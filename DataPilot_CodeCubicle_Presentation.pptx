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1097280"/>
            <a:ext cx="9418320" cy="4663440"/>
          </a:xfrm>
          <a:prstGeom prst="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463040"/>
            <a:ext cx="85039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06B6D4"/>
                </a:solidFill>
              </a:defRPr>
            </a:pPr>
            <a:r>
              <a:t>CODE CUBICLE 6.0 HACKATHON · PROBLEM STATEMENT 01</a:t>
            </a:r>
          </a:p>
          <a:p>
            <a:pPr>
              <a:defRPr sz="4400" b="1">
                <a:solidFill>
                  <a:srgbClr val="F8FAFC"/>
                </a:solidFill>
              </a:defRPr>
            </a:pPr>
            <a:r>
              <a:t>DataPilot</a:t>
            </a:r>
          </a:p>
          <a:p>
            <a:pPr>
              <a:spcAft>
                <a:spcPts val="1800"/>
              </a:spcAft>
              <a:defRPr sz="2200">
                <a:solidFill>
                  <a:srgbClr val="6366F1"/>
                </a:solidFill>
              </a:defRPr>
            </a:pPr>
            <a:r>
              <a:t>AI-Powered Data Intelligence Platform</a:t>
            </a:r>
          </a:p>
          <a:p>
            <a:pPr>
              <a:spcAft>
                <a:spcPts val="2600"/>
              </a:spcAft>
              <a:defRPr sz="1300">
                <a:solidFill>
                  <a:srgbClr val="CBD5E1"/>
                </a:solidFill>
              </a:defRPr>
            </a:pPr>
            <a:r>
              <a:t>Autonomous Prompt-to-Dataset Pipeline · Ingress from Permitted Sources · AI Workflow Planning · Real-Time Cleaning, Deduplication &amp; Source Lineage</a:t>
            </a:r>
          </a:p>
          <a:p>
            <a:pPr>
              <a:defRPr sz="1200" b="1">
                <a:solidFill>
                  <a:srgbClr val="10B981"/>
                </a:solidFill>
              </a:defRPr>
            </a:pPr>
            <a:r>
              <a:t>Author: Hazique Imam  |  GitHub: github.com/haziqueimamgit/CodeCubicle-DataPilot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CODE CUBICLE 6.0 · PROBLEM STATEMENT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The Challenge: Manual &amp; Fragmented Data Ingress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29184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3291840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1. The Business Bottleneck</a:t>
            </a:r>
          </a:p>
          <a:p>
            <a:pPr>
              <a:spcAft>
                <a:spcPts val="600"/>
              </a:spcAft>
              <a:defRPr sz="1150">
                <a:solidFill>
                  <a:srgbClr val="CBD5E1"/>
                </a:solidFill>
              </a:defRPr>
            </a:pPr>
            <a:r>
              <a:t>•  Organizations constantly need specialized data: live tech jobs, sales leads, sponsor calls, and market metrics.</a:t>
            </a:r>
          </a:p>
          <a:p>
            <a:pPr>
              <a:spcAft>
                <a:spcPts val="600"/>
              </a:spcAft>
              <a:defRPr sz="1150">
                <a:solidFill>
                  <a:srgbClr val="CBD5E1"/>
                </a:solidFill>
              </a:defRPr>
            </a:pPr>
            <a:r>
              <a:t>•  Engineers build custom, ad-hoc scrapers for each new request.</a:t>
            </a:r>
          </a:p>
          <a:p>
            <a:pPr>
              <a:spcAft>
                <a:spcPts val="600"/>
              </a:spcAft>
              <a:defRPr sz="1150">
                <a:solidFill>
                  <a:srgbClr val="CBD5E1"/>
                </a:solidFill>
              </a:defRPr>
            </a:pPr>
            <a:r>
              <a:t>•  High maintenance cost when schemas change or targets update.</a:t>
            </a:r>
          </a:p>
          <a:p>
            <a:pPr>
              <a:spcAft>
                <a:spcPts val="600"/>
              </a:spcAft>
              <a:defRPr sz="1150">
                <a:solidFill>
                  <a:srgbClr val="CBD5E1"/>
                </a:solidFill>
              </a:defRPr>
            </a:pPr>
            <a:r>
              <a:t>•  Non-technical teams face friction and multi-day delays.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54480"/>
            <a:ext cx="329184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554480"/>
            <a:ext cx="329184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73736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2. Data Quality &amp; Trust Deficit</a:t>
            </a:r>
          </a:p>
          <a:p>
            <a:pPr>
              <a:spcAft>
                <a:spcPts val="600"/>
              </a:spcAft>
              <a:defRPr sz="1150">
                <a:solidFill>
                  <a:srgbClr val="CBD5E1"/>
                </a:solidFill>
              </a:defRPr>
            </a:pPr>
            <a:r>
              <a:t>•  Raw collected data is plagued with duplicates and missing values.</a:t>
            </a:r>
          </a:p>
          <a:p>
            <a:pPr>
              <a:spcAft>
                <a:spcPts val="600"/>
              </a:spcAft>
              <a:defRPr sz="1150">
                <a:solidFill>
                  <a:srgbClr val="CBD5E1"/>
                </a:solidFill>
              </a:defRPr>
            </a:pPr>
            <a:r>
              <a:t>•  No standardized validation or schema enforcement.</a:t>
            </a:r>
          </a:p>
          <a:p>
            <a:pPr>
              <a:spcAft>
                <a:spcPts val="600"/>
              </a:spcAft>
              <a:defRPr sz="1150">
                <a:solidFill>
                  <a:srgbClr val="CBD5E1"/>
                </a:solidFill>
              </a:defRPr>
            </a:pPr>
            <a:r>
              <a:t>•  Missing provenance: impossible to audit where a specific data point originated.</a:t>
            </a:r>
          </a:p>
          <a:p>
            <a:pPr>
              <a:spcAft>
                <a:spcPts val="600"/>
              </a:spcAft>
              <a:defRPr sz="1150">
                <a:solidFill>
                  <a:srgbClr val="CBD5E1"/>
                </a:solidFill>
              </a:defRPr>
            </a:pPr>
            <a:r>
              <a:t>•  Lack of source compliance (robots.txt, rate limits, permitted terms).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554480"/>
            <a:ext cx="33832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554480"/>
            <a:ext cx="33832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73736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3. The DataPilot Objective</a:t>
            </a:r>
          </a:p>
          <a:p>
            <a:pPr>
              <a:spcAft>
                <a:spcPts val="600"/>
              </a:spcAft>
              <a:defRPr sz="1150">
                <a:solidFill>
                  <a:srgbClr val="CBD5E1"/>
                </a:solidFill>
              </a:defRPr>
            </a:pPr>
            <a:r>
              <a:t>•  Zero-code natural language interface: type what you need in plain English.</a:t>
            </a:r>
          </a:p>
          <a:p>
            <a:pPr>
              <a:spcAft>
                <a:spcPts val="600"/>
              </a:spcAft>
              <a:defRPr sz="1150">
                <a:solidFill>
                  <a:srgbClr val="CBD5E1"/>
                </a:solidFill>
              </a:defRPr>
            </a:pPr>
            <a:r>
              <a:t>•  AI dynamically designs the collection &amp; cleaning workflow.</a:t>
            </a:r>
          </a:p>
          <a:p>
            <a:pPr>
              <a:spcAft>
                <a:spcPts val="600"/>
              </a:spcAft>
              <a:defRPr sz="1150">
                <a:solidFill>
                  <a:srgbClr val="CBD5E1"/>
                </a:solidFill>
              </a:defRPr>
            </a:pPr>
            <a:r>
              <a:t>•  Multi-source ingress strictly from permitted, public endpoints.</a:t>
            </a:r>
          </a:p>
          <a:p>
            <a:pPr>
              <a:spcAft>
                <a:spcPts val="600"/>
              </a:spcAft>
              <a:defRPr sz="1150">
                <a:solidFill>
                  <a:srgbClr val="CBD5E1"/>
                </a:solidFill>
              </a:defRPr>
            </a:pPr>
            <a:r>
              <a:t>•  End-to-end provenance: every row is source-traceable and verifiable.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CODE CUBICLE 6.0 · PROBLEM STATEMENT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Architecture: End-to-End Intelligence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120640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Modern Full-Stack Architecture</a:t>
            </a:r>
          </a:p>
          <a:p>
            <a:pPr>
              <a:spcAft>
                <a:spcPts val="600"/>
              </a:spcAft>
              <a:defRPr sz="1150">
                <a:solidFill>
                  <a:srgbClr val="CBD5E1"/>
                </a:solidFill>
              </a:defRPr>
            </a:pPr>
            <a:r>
              <a:t>•  Frontend: React 19 + TypeScript + Vite + Tailwind CSS v4.</a:t>
            </a:r>
          </a:p>
          <a:p>
            <a:pPr>
              <a:spcAft>
                <a:spcPts val="600"/>
              </a:spcAft>
              <a:defRPr sz="1150">
                <a:solidFill>
                  <a:srgbClr val="CBD5E1"/>
                </a:solidFill>
              </a:defRPr>
            </a:pPr>
            <a:r>
              <a:t>•  Data State Management: TanStack React Query with auto-invalidation.</a:t>
            </a:r>
          </a:p>
          <a:p>
            <a:pPr>
              <a:spcAft>
                <a:spcPts val="600"/>
              </a:spcAft>
              <a:defRPr sz="1150">
                <a:solidFill>
                  <a:srgbClr val="CBD5E1"/>
                </a:solidFill>
              </a:defRPr>
            </a:pPr>
            <a:r>
              <a:t>•  Backend Engine: FastAPI 0.115 (Python 3.12) async microservices.</a:t>
            </a:r>
          </a:p>
          <a:p>
            <a:pPr>
              <a:spcAft>
                <a:spcPts val="600"/>
              </a:spcAft>
              <a:defRPr sz="1150">
                <a:solidFill>
                  <a:srgbClr val="CBD5E1"/>
                </a:solidFill>
              </a:defRPr>
            </a:pPr>
            <a:r>
              <a:t>•  Data Processing: Pandas 2.2 for vectorize cleaning and statistical imputation.</a:t>
            </a:r>
          </a:p>
          <a:p>
            <a:pPr>
              <a:spcAft>
                <a:spcPts val="600"/>
              </a:spcAft>
              <a:defRPr sz="1150">
                <a:solidFill>
                  <a:srgbClr val="CBD5E1"/>
                </a:solidFill>
              </a:defRPr>
            </a:pPr>
            <a:r>
              <a:t>•  Persistence &amp; Audit: SQLAlchemy 2.0 ORM with local zero-config SQLite store.</a:t>
            </a:r>
          </a:p>
          <a:p>
            <a:pPr>
              <a:spcAft>
                <a:spcPts val="600"/>
              </a:spcAft>
              <a:defRPr sz="1150">
                <a:solidFill>
                  <a:srgbClr val="CBD5E1"/>
                </a:solidFill>
              </a:defRPr>
            </a:pPr>
            <a:r>
              <a:t>•  Data Visualization: Recharts dynamic distribution charting.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2120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73736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6-Stage Pipeline Execution Flow</a:t>
            </a:r>
          </a:p>
          <a:p>
            <a:pPr>
              <a:spcAft>
                <a:spcPts val="600"/>
              </a:spcAft>
              <a:defRPr sz="1150">
                <a:solidFill>
                  <a:srgbClr val="CBD5E1"/>
                </a:solidFill>
              </a:defRPr>
            </a:pPr>
            <a:r>
              <a:t>•  Stage 1: Intent Understanding (AI parses domain, limit, columns &amp; constraints).</a:t>
            </a:r>
          </a:p>
          <a:p>
            <a:pPr>
              <a:spcAft>
                <a:spcPts val="600"/>
              </a:spcAft>
              <a:defRPr sz="1150">
                <a:solidFill>
                  <a:srgbClr val="CBD5E1"/>
                </a:solidFill>
              </a:defRPr>
            </a:pPr>
            <a:r>
              <a:t>•  Stage 2: Permitted Ingress (connects to live API or synthetic source).</a:t>
            </a:r>
          </a:p>
          <a:p>
            <a:pPr>
              <a:spcAft>
                <a:spcPts val="600"/>
              </a:spcAft>
              <a:defRPr sz="1150">
                <a:solidFill>
                  <a:srgbClr val="CBD5E1"/>
                </a:solidFill>
              </a:defRPr>
            </a:pPr>
            <a:r>
              <a:t>•  Stage 3: Data Cleaning (type-aware median/standard imputation).</a:t>
            </a:r>
          </a:p>
          <a:p>
            <a:pPr>
              <a:spcAft>
                <a:spcPts val="600"/>
              </a:spcAft>
              <a:defRPr sz="1150">
                <a:solidFill>
                  <a:srgbClr val="CBD5E1"/>
                </a:solidFill>
              </a:defRPr>
            </a:pPr>
            <a:r>
              <a:t>•  Stage 4: Validation (schema enforcement &amp; anomaly flagging).</a:t>
            </a:r>
          </a:p>
          <a:p>
            <a:pPr>
              <a:spcAft>
                <a:spcPts val="600"/>
              </a:spcAft>
              <a:defRPr sz="1150">
                <a:solidFill>
                  <a:srgbClr val="CBD5E1"/>
                </a:solidFill>
              </a:defRPr>
            </a:pPr>
            <a:r>
              <a:t>•  Stage 5: Deduplication (cryptographic row entity hash pruning).</a:t>
            </a:r>
          </a:p>
          <a:p>
            <a:pPr>
              <a:spcAft>
                <a:spcPts val="600"/>
              </a:spcAft>
              <a:defRPr sz="1150">
                <a:solidFill>
                  <a:srgbClr val="CBD5E1"/>
                </a:solidFill>
              </a:defRPr>
            </a:pPr>
            <a:r>
              <a:t>•  Stage 6: Persistence &amp; Lineage (dataset metadata, schema &amp; CSV/JSON export).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CODE CUBICLE 6.0 · PROBLEM STATEMENT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AI Intent Understanding &amp; Dynamic Planner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12064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Dual-Mode Requirement Parser</a:t>
            </a:r>
          </a:p>
          <a:p>
            <a:pPr>
              <a:spcAft>
                <a:spcPts val="600"/>
              </a:spcAft>
              <a:defRPr sz="1150">
                <a:solidFill>
                  <a:srgbClr val="CBD5E1"/>
                </a:solidFill>
              </a:defRPr>
            </a:pPr>
            <a:r>
              <a:t>•  High-Accuracy Rule-Based NLP: Zero API key dependency, instant offline execution, extracts entities and constraints.</a:t>
            </a:r>
          </a:p>
          <a:p>
            <a:pPr>
              <a:spcAft>
                <a:spcPts val="600"/>
              </a:spcAft>
              <a:defRPr sz="1150">
                <a:solidFill>
                  <a:srgbClr val="CBD5E1"/>
                </a:solidFill>
              </a:defRPr>
            </a:pPr>
            <a:r>
              <a:t>•  LLM Mode (OpenAI / Gemini): Structured JSON schema extraction for ambiguous and conversational user requests.</a:t>
            </a:r>
          </a:p>
          <a:p>
            <a:pPr>
              <a:spcAft>
                <a:spcPts val="600"/>
              </a:spcAft>
              <a:defRPr sz="1150">
                <a:solidFill>
                  <a:srgbClr val="CBD5E1"/>
                </a:solidFill>
              </a:defRPr>
            </a:pPr>
            <a:r>
              <a:t>•  Domain Classifier: Detects jobs, financial market, leads, sponsors, sales, customers, products, and HR entities.</a:t>
            </a:r>
          </a:p>
          <a:p>
            <a:pPr>
              <a:spcAft>
                <a:spcPts val="600"/>
              </a:spcAft>
              <a:defRPr sz="1150">
                <a:solidFill>
                  <a:srgbClr val="CBD5E1"/>
                </a:solidFill>
              </a:defRPr>
            </a:pPr>
            <a:r>
              <a:t>•  Auto Connector Resolution: Dynamically assigns the optimal data source without manual user configuration.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212080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73736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Dynamic AI Workflow Planner (POST /plan)</a:t>
            </a:r>
          </a:p>
          <a:p>
            <a:pPr>
              <a:spcAft>
                <a:spcPts val="600"/>
              </a:spcAft>
              <a:defRPr sz="1150">
                <a:solidFill>
                  <a:srgbClr val="CBD5E1"/>
                </a:solidFill>
              </a:defRPr>
            </a:pPr>
            <a:r>
              <a:t>•  Generates a multi-stage execution plan before running.</a:t>
            </a:r>
          </a:p>
          <a:p>
            <a:pPr>
              <a:spcAft>
                <a:spcPts val="600"/>
              </a:spcAft>
              <a:defRPr sz="1150">
                <a:solidFill>
                  <a:srgbClr val="CBD5E1"/>
                </a:solidFill>
              </a:defRPr>
            </a:pPr>
            <a:r>
              <a:t>•  Allows users to inspect estimated record counts, target domain, and planned operations.</a:t>
            </a:r>
          </a:p>
          <a:p>
            <a:pPr>
              <a:spcAft>
                <a:spcPts val="600"/>
              </a:spcAft>
              <a:defRPr sz="1150">
                <a:solidFill>
                  <a:srgbClr val="CBD5E1"/>
                </a:solidFill>
              </a:defRPr>
            </a:pPr>
            <a:r>
              <a:t>•  Displays planned stages: Intent → Ingress → Imputation → Validation → Deduplication → Scoring → Persistence.</a:t>
            </a:r>
          </a:p>
          <a:p>
            <a:pPr>
              <a:spcAft>
                <a:spcPts val="600"/>
              </a:spcAft>
              <a:defRPr sz="1150">
                <a:solidFill>
                  <a:srgbClr val="CBD5E1"/>
                </a:solidFill>
              </a:defRPr>
            </a:pPr>
            <a:r>
              <a:t>•  Gives users complete transparency into AI reasoning prior to pipeline execution.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CODE CUBICLE 6.0 · PROBLEM STATEMENT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Multi-Source Ingress: 4 Permitted Connectors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24688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24688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2011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Live Job Openings</a:t>
            </a:r>
          </a:p>
          <a:p>
            <a:pPr>
              <a:spcAft>
                <a:spcPts val="600"/>
              </a:spcAft>
              <a:defRPr sz="1150">
                <a:solidFill>
                  <a:srgbClr val="CBD5E1"/>
                </a:solidFill>
              </a:defRPr>
            </a:pPr>
            <a:r>
              <a:t>•  Connector: 'jobs'</a:t>
            </a:r>
          </a:p>
          <a:p>
            <a:pPr>
              <a:spcAft>
                <a:spcPts val="600"/>
              </a:spcAft>
              <a:defRPr sz="1150">
                <a:solidFill>
                  <a:srgbClr val="CBD5E1"/>
                </a:solidFill>
              </a:defRPr>
            </a:pPr>
            <a:r>
              <a:t>•  Sources: Arbeitnow &amp; RemoteOK Open APIs.</a:t>
            </a:r>
          </a:p>
          <a:p>
            <a:pPr>
              <a:spcAft>
                <a:spcPts val="600"/>
              </a:spcAft>
              <a:defRPr sz="1150">
                <a:solidFill>
                  <a:srgbClr val="CBD5E1"/>
                </a:solidFill>
              </a:defRPr>
            </a:pPr>
            <a:r>
              <a:t>•  Ingress: Real tech roles, salaries, required tech stacks, locations.</a:t>
            </a:r>
          </a:p>
          <a:p>
            <a:pPr>
              <a:spcAft>
                <a:spcPts val="600"/>
              </a:spcAft>
              <a:defRPr sz="1150">
                <a:solidFill>
                  <a:srgbClr val="CBD5E1"/>
                </a:solidFill>
              </a:defRPr>
            </a:pPr>
            <a:r>
              <a:t>•  100% permitted public access with offline fallback.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554480"/>
            <a:ext cx="24688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74720" y="1554480"/>
            <a:ext cx="2468880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1737360"/>
            <a:ext cx="2011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Market Intelligence</a:t>
            </a:r>
          </a:p>
          <a:p>
            <a:pPr>
              <a:spcAft>
                <a:spcPts val="600"/>
              </a:spcAft>
              <a:defRPr sz="1150">
                <a:solidFill>
                  <a:srgbClr val="CBD5E1"/>
                </a:solidFill>
              </a:defRPr>
            </a:pPr>
            <a:r>
              <a:t>•  Connector: 'crypto_market'</a:t>
            </a:r>
          </a:p>
          <a:p>
            <a:pPr>
              <a:spcAft>
                <a:spcPts val="600"/>
              </a:spcAft>
              <a:defRPr sz="1150">
                <a:solidFill>
                  <a:srgbClr val="CBD5E1"/>
                </a:solidFill>
              </a:defRPr>
            </a:pPr>
            <a:r>
              <a:t>•  Source: CoinGecko Public API.</a:t>
            </a:r>
          </a:p>
          <a:p>
            <a:pPr>
              <a:spcAft>
                <a:spcPts val="600"/>
              </a:spcAft>
              <a:defRPr sz="1150">
                <a:solidFill>
                  <a:srgbClr val="CBD5E1"/>
                </a:solidFill>
              </a:defRPr>
            </a:pPr>
            <a:r>
              <a:t>•  Ingress: Live valuations, 24h trading volumes, market caps, price changes.</a:t>
            </a:r>
          </a:p>
          <a:p>
            <a:pPr>
              <a:spcAft>
                <a:spcPts val="600"/>
              </a:spcAft>
              <a:defRPr sz="1150">
                <a:solidFill>
                  <a:srgbClr val="CBD5E1"/>
                </a:solidFill>
              </a:defRPr>
            </a:pPr>
            <a:r>
              <a:t>•  Direct verified verification URLs.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54480"/>
            <a:ext cx="24688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554480"/>
            <a:ext cx="246888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737360"/>
            <a:ext cx="2011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Tech Leads &amp; Sponsors</a:t>
            </a:r>
          </a:p>
          <a:p>
            <a:pPr>
              <a:spcAft>
                <a:spcPts val="600"/>
              </a:spcAft>
              <a:defRPr sz="1150">
                <a:solidFill>
                  <a:srgbClr val="CBD5E1"/>
                </a:solidFill>
              </a:defRPr>
            </a:pPr>
            <a:r>
              <a:t>•  Connector: 'hn_leads'</a:t>
            </a:r>
          </a:p>
          <a:p>
            <a:pPr>
              <a:spcAft>
                <a:spcPts val="600"/>
              </a:spcAft>
              <a:defRPr sz="1150">
                <a:solidFill>
                  <a:srgbClr val="CBD5E1"/>
                </a:solidFill>
              </a:defRPr>
            </a:pPr>
            <a:r>
              <a:t>•  Source: Hacker News Official API.</a:t>
            </a:r>
          </a:p>
          <a:p>
            <a:pPr>
              <a:spcAft>
                <a:spcPts val="600"/>
              </a:spcAft>
              <a:defRPr sz="1150">
                <a:solidFill>
                  <a:srgbClr val="CBD5E1"/>
                </a:solidFill>
              </a:defRPr>
            </a:pPr>
            <a:r>
              <a:t>•  Ingress: Startup hiring leads, founder partnerships, sponsor threads.</a:t>
            </a:r>
          </a:p>
          <a:p>
            <a:pPr>
              <a:spcAft>
                <a:spcPts val="600"/>
              </a:spcAft>
              <a:defRPr sz="1150">
                <a:solidFill>
                  <a:srgbClr val="CBD5E1"/>
                </a:solidFill>
              </a:defRPr>
            </a:pPr>
            <a:r>
              <a:t>•  Direct discussion thread traceability.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1554480"/>
            <a:ext cx="24688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961120" y="1554480"/>
            <a:ext cx="2468880" cy="7315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89720" y="1737360"/>
            <a:ext cx="2011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Synthetic Demo Engine</a:t>
            </a:r>
          </a:p>
          <a:p>
            <a:pPr>
              <a:spcAft>
                <a:spcPts val="600"/>
              </a:spcAft>
              <a:defRPr sz="1150">
                <a:solidFill>
                  <a:srgbClr val="CBD5E1"/>
                </a:solidFill>
              </a:defRPr>
            </a:pPr>
            <a:r>
              <a:t>•  Connector: 'demo'</a:t>
            </a:r>
          </a:p>
          <a:p>
            <a:pPr>
              <a:spcAft>
                <a:spcPts val="600"/>
              </a:spcAft>
              <a:defRPr sz="1150">
                <a:solidFill>
                  <a:srgbClr val="CBD5E1"/>
                </a:solidFill>
              </a:defRPr>
            </a:pPr>
            <a:r>
              <a:t>•  Engine: Faker 30.1.</a:t>
            </a:r>
          </a:p>
          <a:p>
            <a:pPr>
              <a:spcAft>
                <a:spcPts val="600"/>
              </a:spcAft>
              <a:defRPr sz="1150">
                <a:solidFill>
                  <a:srgbClr val="CBD5E1"/>
                </a:solidFill>
              </a:defRPr>
            </a:pPr>
            <a:r>
              <a:t>•  Covers 7 domains: Sales, Customers, Products, Employees, Jobs, Market, Leads.</a:t>
            </a:r>
          </a:p>
          <a:p>
            <a:pPr>
              <a:spcAft>
                <a:spcPts val="600"/>
              </a:spcAft>
              <a:defRPr sz="1150">
                <a:solidFill>
                  <a:srgbClr val="CBD5E1"/>
                </a:solidFill>
              </a:defRPr>
            </a:pPr>
            <a:r>
              <a:t>•  Seeded with anomalies to test pipeline cleaning.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CODE CUBICLE 6.0 · PROBLEM STATEMENT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Data Quality, Imputation &amp; Hygiene Scoring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120640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Data Cleaning &amp; Hygiene Pipeline</a:t>
            </a:r>
          </a:p>
          <a:p>
            <a:pPr>
              <a:spcAft>
                <a:spcPts val="600"/>
              </a:spcAft>
              <a:defRPr sz="1150">
                <a:solidFill>
                  <a:srgbClr val="CBD5E1"/>
                </a:solidFill>
              </a:defRPr>
            </a:pPr>
            <a:r>
              <a:t>•  Missing Value Imputation: Numeric fields imputed using column median (robust to outliers); strings standardized.</a:t>
            </a:r>
          </a:p>
          <a:p>
            <a:pPr>
              <a:spcAft>
                <a:spcPts val="600"/>
              </a:spcAft>
              <a:defRPr sz="1150">
                <a:solidFill>
                  <a:srgbClr val="CBD5E1"/>
                </a:solidFill>
              </a:defRPr>
            </a:pPr>
            <a:r>
              <a:t>•  Full-Hash Deduplication: Prunes identical entity records to eliminate multi-source overlap.</a:t>
            </a:r>
          </a:p>
          <a:p>
            <a:pPr>
              <a:spcAft>
                <a:spcPts val="600"/>
              </a:spcAft>
              <a:defRPr sz="1150">
                <a:solidFill>
                  <a:srgbClr val="CBD5E1"/>
                </a:solidFill>
              </a:defRPr>
            </a:pPr>
            <a:r>
              <a:t>•  Type &amp; Schema Enforcement: Validates data types, lengths, and nullability constraints.</a:t>
            </a:r>
          </a:p>
          <a:p>
            <a:pPr>
              <a:spcAft>
                <a:spcPts val="600"/>
              </a:spcAft>
              <a:defRPr sz="1150">
                <a:solidFill>
                  <a:srgbClr val="CBD5E1"/>
                </a:solidFill>
              </a:defRPr>
            </a:pPr>
            <a:r>
              <a:t>•  Audit Event Log: Every operation logs exact records modified with microsecond timestamps.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2120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73736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Composite Quality Score Formula (0-100)</a:t>
            </a:r>
          </a:p>
          <a:p>
            <a:pPr>
              <a:spcAft>
                <a:spcPts val="600"/>
              </a:spcAft>
              <a:defRPr sz="1150">
                <a:solidFill>
                  <a:srgbClr val="CBD5E1"/>
                </a:solidFill>
              </a:defRPr>
            </a:pPr>
            <a:r>
              <a:t>•  Completeness Index: Proportion of non-null fields post-cleaning (0-100%).</a:t>
            </a:r>
          </a:p>
          <a:p>
            <a:pPr>
              <a:spcAft>
                <a:spcPts val="600"/>
              </a:spcAft>
              <a:defRPr sz="1150">
                <a:solidFill>
                  <a:srgbClr val="CBD5E1"/>
                </a:solidFill>
              </a:defRPr>
            </a:pPr>
            <a:r>
              <a:t>•  Uniqueness Index: Ratio of distinct unique entity records (0-100%).</a:t>
            </a:r>
          </a:p>
          <a:p>
            <a:pPr>
              <a:spcAft>
                <a:spcPts val="600"/>
              </a:spcAft>
              <a:defRPr sz="1150">
                <a:solidFill>
                  <a:srgbClr val="CBD5E1"/>
                </a:solidFill>
              </a:defRPr>
            </a:pPr>
            <a:r>
              <a:t>•  Validity Index: Conformity to inferred schema &amp; character length bounds.</a:t>
            </a:r>
          </a:p>
          <a:p>
            <a:pPr>
              <a:spcAft>
                <a:spcPts val="600"/>
              </a:spcAft>
              <a:defRPr sz="1150">
                <a:solidFill>
                  <a:srgbClr val="CBD5E1"/>
                </a:solidFill>
              </a:defRPr>
            </a:pPr>
            <a:r>
              <a:t>•  Weighted Quality Index: Penalizes null repairs (-30 max), duplicate removals (-20 max), and schema issues (-10 max).</a:t>
            </a:r>
          </a:p>
          <a:p>
            <a:pPr>
              <a:spcAft>
                <a:spcPts val="600"/>
              </a:spcAft>
              <a:defRPr sz="1150">
                <a:solidFill>
                  <a:srgbClr val="CBD5E1"/>
                </a:solidFill>
              </a:defRPr>
            </a:pPr>
            <a:r>
              <a:t>•  System-wide analytics displayed via interactive Recharts bar graphs.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CODE CUBICLE 6.0 · PROBLEM STATEMENT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Source Traceability &amp; Lineage Guarantee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12064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Row-Level Lineage Metadata</a:t>
            </a:r>
          </a:p>
          <a:p>
            <a:pPr>
              <a:spcAft>
                <a:spcPts val="600"/>
              </a:spcAft>
              <a:defRPr sz="1150">
                <a:solidFill>
                  <a:srgbClr val="CBD5E1"/>
                </a:solidFill>
              </a:defRPr>
            </a:pPr>
            <a:r>
              <a:t>•  _source_url: Direct clickable link to the originating posting or entity.</a:t>
            </a:r>
          </a:p>
          <a:p>
            <a:pPr>
              <a:spcAft>
                <a:spcPts val="600"/>
              </a:spcAft>
              <a:defRPr sz="1150">
                <a:solidFill>
                  <a:srgbClr val="CBD5E1"/>
                </a:solidFill>
              </a:defRPr>
            </a:pPr>
            <a:r>
              <a:t>•  _collected_at: ISO 8601 UTC timestamp of ingress.</a:t>
            </a:r>
          </a:p>
          <a:p>
            <a:pPr>
              <a:spcAft>
                <a:spcPts val="600"/>
              </a:spcAft>
              <a:defRPr sz="1150">
                <a:solidFill>
                  <a:srgbClr val="CBD5E1"/>
                </a:solidFill>
              </a:defRPr>
            </a:pPr>
            <a:r>
              <a:t>•  _connector: Identity of the connector responsible for retrieval.</a:t>
            </a:r>
          </a:p>
          <a:p>
            <a:pPr>
              <a:spcAft>
                <a:spcPts val="600"/>
              </a:spcAft>
              <a:defRPr sz="1150">
                <a:solidFill>
                  <a:srgbClr val="CBD5E1"/>
                </a:solidFill>
              </a:defRPr>
            </a:pPr>
            <a:r>
              <a:t>•  _source_domain: Originating domain (e.g. arbeitnow.com, coingecko.com).</a:t>
            </a:r>
          </a:p>
          <a:p>
            <a:pPr>
              <a:spcAft>
                <a:spcPts val="600"/>
              </a:spcAft>
              <a:defRPr sz="1150">
                <a:solidFill>
                  <a:srgbClr val="CBD5E1"/>
                </a:solidFill>
              </a:defRPr>
            </a:pPr>
            <a:r>
              <a:t>•  Auditable Lineage: Every row in the interactive table is clickable to its source.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212080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73736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Governance &amp; Permitted Data Compliance</a:t>
            </a:r>
          </a:p>
          <a:p>
            <a:pPr>
              <a:spcAft>
                <a:spcPts val="600"/>
              </a:spcAft>
              <a:defRPr sz="1150">
                <a:solidFill>
                  <a:srgbClr val="CBD5E1"/>
                </a:solidFill>
              </a:defRPr>
            </a:pPr>
            <a:r>
              <a:t>•  Synthetic Data Transparency: All demo records explicitly tagged with 🧪 Demo label.</a:t>
            </a:r>
          </a:p>
          <a:p>
            <a:pPr>
              <a:spcAft>
                <a:spcPts val="600"/>
              </a:spcAft>
              <a:defRPr sz="1150">
                <a:solidFill>
                  <a:srgbClr val="CBD5E1"/>
                </a:solidFill>
              </a:defRPr>
            </a:pPr>
            <a:r>
              <a:t>•  Permitted Source Badging: Live API datasets stamped with 🌐 Permitted Source badge.</a:t>
            </a:r>
          </a:p>
          <a:p>
            <a:pPr>
              <a:spcAft>
                <a:spcPts val="600"/>
              </a:spcAft>
              <a:defRPr sz="1150">
                <a:solidFill>
                  <a:srgbClr val="CBD5E1"/>
                </a:solidFill>
              </a:defRPr>
            </a:pPr>
            <a:r>
              <a:t>•  Compliance Audit: Strict respect for robots.txt, public rate limits, and API headers.</a:t>
            </a:r>
          </a:p>
          <a:p>
            <a:pPr>
              <a:spcAft>
                <a:spcPts val="600"/>
              </a:spcAft>
              <a:defRPr sz="1150">
                <a:solidFill>
                  <a:srgbClr val="CBD5E1"/>
                </a:solidFill>
              </a:defRPr>
            </a:pPr>
            <a:r>
              <a:t>•  Provenance Tab: Displays triggering user prompt, workflow ID, and licensing notice.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CODE CUBICLE 6.0 · PROBLEM STATEMENT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Interactive User Interface &amp; Tooling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29184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3291840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1. Command Center &amp; Studio</a:t>
            </a:r>
          </a:p>
          <a:p>
            <a:pPr>
              <a:spcAft>
                <a:spcPts val="600"/>
              </a:spcAft>
              <a:defRPr sz="1150">
                <a:solidFill>
                  <a:srgbClr val="CBD5E1"/>
                </a:solidFill>
              </a:defRPr>
            </a:pPr>
            <a:r>
              <a:t>•  Executive Dashboard: Real-time KPIs, active connectors, quality index, and quick prompt bar.</a:t>
            </a:r>
          </a:p>
          <a:p>
            <a:pPr>
              <a:spcAft>
                <a:spcPts val="600"/>
              </a:spcAft>
              <a:defRPr sz="1150">
                <a:solidFill>
                  <a:srgbClr val="CBD5E1"/>
                </a:solidFill>
              </a:defRPr>
            </a:pPr>
            <a:r>
              <a:t>•  New Task Studio: Natural language requirement editor, preset template chips, and live AI plan preview.</a:t>
            </a:r>
          </a:p>
          <a:p>
            <a:pPr>
              <a:spcAft>
                <a:spcPts val="600"/>
              </a:spcAft>
              <a:defRPr sz="1150">
                <a:solidFill>
                  <a:srgbClr val="CBD5E1"/>
                </a:solidFill>
              </a:defRPr>
            </a:pPr>
            <a:r>
              <a:t>•  Dark Modern UI: Tailored dark theme using Tailwind CSS v4.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54480"/>
            <a:ext cx="329184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554480"/>
            <a:ext cx="329184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73736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2. Workflow Management</a:t>
            </a:r>
          </a:p>
          <a:p>
            <a:pPr>
              <a:spcAft>
                <a:spcPts val="600"/>
              </a:spcAft>
              <a:defRPr sz="1150">
                <a:solidFill>
                  <a:srgbClr val="CBD5E1"/>
                </a:solidFill>
              </a:defRPr>
            </a:pPr>
            <a:r>
              <a:t>•  Full Audit History: Step-by-step pipeline log with success/warning/error badges.</a:t>
            </a:r>
          </a:p>
          <a:p>
            <a:pPr>
              <a:spcAft>
                <a:spcPts val="600"/>
              </a:spcAft>
              <a:defRPr sz="1150">
                <a:solidFill>
                  <a:srgbClr val="CBD5E1"/>
                </a:solidFill>
              </a:defRPr>
            </a:pPr>
            <a:r>
              <a:t>•  Task Management: Filter by status (Completed, Running, Failed), search by prompt.</a:t>
            </a:r>
          </a:p>
          <a:p>
            <a:pPr>
              <a:spcAft>
                <a:spcPts val="600"/>
              </a:spcAft>
              <a:defRPr sz="1150">
                <a:solidFill>
                  <a:srgbClr val="CBD5E1"/>
                </a:solidFill>
              </a:defRPr>
            </a:pPr>
            <a:r>
              <a:t>•  Re-Run &amp; Delete: One-click pipeline re-execution and dataset cleanup.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554480"/>
            <a:ext cx="33832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554480"/>
            <a:ext cx="33832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73736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3. Interactive Data Explorer</a:t>
            </a:r>
          </a:p>
          <a:p>
            <a:pPr>
              <a:spcAft>
                <a:spcPts val="600"/>
              </a:spcAft>
              <a:defRPr sz="1150">
                <a:solidFill>
                  <a:srgbClr val="CBD5E1"/>
                </a:solidFill>
              </a:defRPr>
            </a:pPr>
            <a:r>
              <a:t>•  Data Grid: Live search across all columns, header sorting, and pagination.</a:t>
            </a:r>
          </a:p>
          <a:p>
            <a:pPr>
              <a:spcAft>
                <a:spcPts val="600"/>
              </a:spcAft>
              <a:defRPr sz="1150">
                <a:solidFill>
                  <a:srgbClr val="CBD5E1"/>
                </a:solidFill>
              </a:defRPr>
            </a:pPr>
            <a:r>
              <a:t>•  Quality Tab: Completeness, uniqueness, and validity breakdown bars.</a:t>
            </a:r>
          </a:p>
          <a:p>
            <a:pPr>
              <a:spcAft>
                <a:spcPts val="600"/>
              </a:spcAft>
              <a:defRPr sz="1150">
                <a:solidFill>
                  <a:srgbClr val="CBD5E1"/>
                </a:solidFill>
              </a:defRPr>
            </a:pPr>
            <a:r>
              <a:t>•  Lineage Tab: Provenance, original prompt, and source URLs.</a:t>
            </a:r>
          </a:p>
          <a:p>
            <a:pPr>
              <a:spcAft>
                <a:spcPts val="600"/>
              </a:spcAft>
              <a:defRPr sz="1150">
                <a:solidFill>
                  <a:srgbClr val="CBD5E1"/>
                </a:solidFill>
              </a:defRPr>
            </a:pPr>
            <a:r>
              <a:t>•  Schema Inspector: Column types, unique counts, sample values.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CODE CUBICLE 6.0 · PROBLEM STATEMENT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Multi-Format Export &amp; Downstream Integration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12064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RFC-Compliant Data Export</a:t>
            </a:r>
          </a:p>
          <a:p>
            <a:pPr>
              <a:spcAft>
                <a:spcPts val="600"/>
              </a:spcAft>
              <a:defRPr sz="1150">
                <a:solidFill>
                  <a:srgbClr val="CBD5E1"/>
                </a:solidFill>
              </a:defRPr>
            </a:pPr>
            <a:r>
              <a:t>•  CSV Streaming Export: Direct download via GET /api/datasets/{id}/export.</a:t>
            </a:r>
          </a:p>
          <a:p>
            <a:pPr>
              <a:spcAft>
                <a:spcPts val="600"/>
              </a:spcAft>
              <a:defRPr sz="1150">
                <a:solidFill>
                  <a:srgbClr val="CBD5E1"/>
                </a:solidFill>
              </a:defRPr>
            </a:pPr>
            <a:r>
              <a:t>•  Formatted JSON Export: Formatted payload via GET /api/datasets/{id}/export/json.</a:t>
            </a:r>
          </a:p>
          <a:p>
            <a:pPr>
              <a:spcAft>
                <a:spcPts val="600"/>
              </a:spcAft>
              <a:defRPr sz="1150">
                <a:solidFill>
                  <a:srgbClr val="CBD5E1"/>
                </a:solidFill>
              </a:defRPr>
            </a:pPr>
            <a:r>
              <a:t>•  Latin-1 Header Sanitization: Enforces ASCII compliance on HTTP Content-Disposition.</a:t>
            </a:r>
          </a:p>
          <a:p>
            <a:pPr>
              <a:spcAft>
                <a:spcPts val="600"/>
              </a:spcAft>
              <a:defRPr sz="1150">
                <a:solidFill>
                  <a:srgbClr val="CBD5E1"/>
                </a:solidFill>
              </a:defRPr>
            </a:pPr>
            <a:r>
              <a:t>•  Downstream Ready: Import directly into Pandas, Excel, Tableau, or PowerBI.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212080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73736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Enterprise Extensibility</a:t>
            </a:r>
          </a:p>
          <a:p>
            <a:pPr>
              <a:spcAft>
                <a:spcPts val="600"/>
              </a:spcAft>
              <a:defRPr sz="1150">
                <a:solidFill>
                  <a:srgbClr val="CBD5E1"/>
                </a:solidFill>
              </a:defRPr>
            </a:pPr>
            <a:r>
              <a:t>•  Pluggable Connectors: Create new connectors in ~25 lines of Python using BaseConnector.</a:t>
            </a:r>
          </a:p>
          <a:p>
            <a:pPr>
              <a:spcAft>
                <a:spcPts val="600"/>
              </a:spcAft>
              <a:defRPr sz="1150">
                <a:solidFill>
                  <a:srgbClr val="CBD5E1"/>
                </a:solidFill>
              </a:defRPr>
            </a:pPr>
            <a:r>
              <a:t>•  Auto-Discovery: Submodules decorated with @register_connector are instantly live.</a:t>
            </a:r>
          </a:p>
          <a:p>
            <a:pPr>
              <a:spcAft>
                <a:spcPts val="600"/>
              </a:spcAft>
              <a:defRPr sz="1150">
                <a:solidFill>
                  <a:srgbClr val="CBD5E1"/>
                </a:solidFill>
              </a:defRPr>
            </a:pPr>
            <a:r>
              <a:t>•  No Frontend Changes: New connectors immediately populate dropdowns and API docs.</a:t>
            </a:r>
          </a:p>
          <a:p>
            <a:pPr>
              <a:spcAft>
                <a:spcPts val="600"/>
              </a:spcAft>
              <a:defRPr sz="1150">
                <a:solidFill>
                  <a:srgbClr val="CBD5E1"/>
                </a:solidFill>
              </a:defRPr>
            </a:pPr>
            <a:r>
              <a:t>•  Modular Storage: Swap SQLite for PostgreSQL / Snowflake with zero code changes.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CODE CUBICLE 6.0 · PROBLEM STATEMENT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Hackathon Deliverables: 100% Problem Statement 01 Coverage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106984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10241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Verified Alignment Matrix</a:t>
            </a:r>
          </a:p>
          <a:p>
            <a:pPr>
              <a:spcAft>
                <a:spcPts val="600"/>
              </a:spcAft>
              <a:defRPr sz="1150">
                <a:solidFill>
                  <a:srgbClr val="CBD5E1"/>
                </a:solidFill>
              </a:defRPr>
            </a:pPr>
            <a:r>
              <a:t>•  Understand requirements from NL prompts  ──►  Rule-based NLP + OpenAI intent parser with domain &amp; entity extraction</a:t>
            </a:r>
          </a:p>
          <a:p>
            <a:pPr>
              <a:spcAft>
                <a:spcPts val="600"/>
              </a:spcAft>
              <a:defRPr sz="1150">
                <a:solidFill>
                  <a:srgbClr val="CBD5E1"/>
                </a:solidFill>
              </a:defRPr>
            </a:pPr>
            <a:r>
              <a:t>•  Dynamically design and execute workflows ──►  POST /api/workflows/plan + 6-stage pipeline execution engine</a:t>
            </a:r>
          </a:p>
          <a:p>
            <a:pPr>
              <a:spcAft>
                <a:spcPts val="600"/>
              </a:spcAft>
              <a:defRPr sz="1150">
                <a:solidFill>
                  <a:srgbClr val="CBD5E1"/>
                </a:solidFill>
              </a:defRPr>
            </a:pPr>
            <a:r>
              <a:t>•  Collect information from permitted sources  ──►  4 connectors: Arbeitnow Jobs, CoinGecko Crypto, Hacker News, Faker</a:t>
            </a:r>
          </a:p>
          <a:p>
            <a:pPr>
              <a:spcAft>
                <a:spcPts val="600"/>
              </a:spcAft>
              <a:defRPr sz="1150">
                <a:solidFill>
                  <a:srgbClr val="CBD5E1"/>
                </a:solidFill>
              </a:defRPr>
            </a:pPr>
            <a:r>
              <a:t>•  Clean, structure, validate, deduplicate    ──►  Median/standard null fill, full-hash dedup, type validation</a:t>
            </a:r>
          </a:p>
          <a:p>
            <a:pPr>
              <a:spcAft>
                <a:spcPts val="600"/>
              </a:spcAft>
              <a:defRPr sz="1150">
                <a:solidFill>
                  <a:srgbClr val="CBD5E1"/>
                </a:solidFill>
              </a:defRPr>
            </a:pPr>
            <a:r>
              <a:t>•  Provide source-backed, traceable data    ──►  _source_url, _collected_at, _connector stamps + Provenance audit tab</a:t>
            </a:r>
          </a:p>
          <a:p>
            <a:pPr>
              <a:spcAft>
                <a:spcPts val="600"/>
              </a:spcAft>
              <a:defRPr sz="1150">
                <a:solidFill>
                  <a:srgbClr val="CBD5E1"/>
                </a:solidFill>
              </a:defRPr>
            </a:pPr>
            <a:r>
              <a:t>•  Monitor and manage collection tasks      ──►  Workflows dashboard, step execution logs, rerun &amp; delete controls</a:t>
            </a:r>
          </a:p>
          <a:p>
            <a:pPr>
              <a:spcAft>
                <a:spcPts val="600"/>
              </a:spcAft>
              <a:defRPr sz="1150">
                <a:solidFill>
                  <a:srgbClr val="CBD5E1"/>
                </a:solidFill>
              </a:defRPr>
            </a:pPr>
            <a:r>
              <a:t>•  Present results through interactive UI   ──►  Searchable/sortable data grid, quality health charts, schema inspector</a:t>
            </a:r>
          </a:p>
          <a:p>
            <a:pPr>
              <a:spcAft>
                <a:spcPts val="600"/>
              </a:spcAft>
              <a:defRPr sz="1150">
                <a:solidFill>
                  <a:srgbClr val="CBD5E1"/>
                </a:solidFill>
              </a:defRPr>
            </a:pPr>
            <a:r>
              <a:t>•  Maintain workflow &amp; dataset history      ──►  Persistent SQLite database with SQLAlchemy 2.0 ORM models</a:t>
            </a:r>
          </a:p>
          <a:p>
            <a:pPr>
              <a:spcAft>
                <a:spcPts val="600"/>
              </a:spcAft>
              <a:defRPr sz="1150">
                <a:solidFill>
                  <a:srgbClr val="CBD5E1"/>
                </a:solidFill>
              </a:defRPr>
            </a:pPr>
            <a:r>
              <a:t>•  Search, filter, and export collected data ──►  Live substring search, ascending/descending sorting, CSV &amp; JSON download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CODE CUBICLE 6.0 · PROBLEM STATEMENT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Summary &amp; Project Repository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120640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Project Impact &amp; Innovation</a:t>
            </a:r>
          </a:p>
          <a:p>
            <a:pPr>
              <a:spcAft>
                <a:spcPts val="600"/>
              </a:spcAft>
              <a:defRPr sz="1150">
                <a:solidFill>
                  <a:srgbClr val="CBD5E1"/>
                </a:solidFill>
              </a:defRPr>
            </a:pPr>
            <a:r>
              <a:t>•  Democratizes data intelligence: Non-technical users can generate validated datasets in seconds.</a:t>
            </a:r>
          </a:p>
          <a:p>
            <a:pPr>
              <a:spcAft>
                <a:spcPts val="600"/>
              </a:spcAft>
              <a:defRPr sz="1150">
                <a:solidFill>
                  <a:srgbClr val="CBD5E1"/>
                </a:solidFill>
              </a:defRPr>
            </a:pPr>
            <a:r>
              <a:t>•  Eliminates scraper fatigue: Unified connector registry handles ingress dynamically.</a:t>
            </a:r>
          </a:p>
          <a:p>
            <a:pPr>
              <a:spcAft>
                <a:spcPts val="600"/>
              </a:spcAft>
              <a:defRPr sz="1150">
                <a:solidFill>
                  <a:srgbClr val="CBD5E1"/>
                </a:solidFill>
              </a:defRPr>
            </a:pPr>
            <a:r>
              <a:t>•  Guarantees quality: Every dataset is audited, scored, and verifiable.</a:t>
            </a:r>
          </a:p>
          <a:p>
            <a:pPr>
              <a:spcAft>
                <a:spcPts val="600"/>
              </a:spcAft>
              <a:defRPr sz="1150">
                <a:solidFill>
                  <a:srgbClr val="CBD5E1"/>
                </a:solidFill>
              </a:defRPr>
            </a:pPr>
            <a:r>
              <a:t>•  Production-ready: Fast, type-safe stack with zero build or runtime errors.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21208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73736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Submission Links &amp; Verification</a:t>
            </a:r>
          </a:p>
          <a:p>
            <a:pPr>
              <a:spcAft>
                <a:spcPts val="600"/>
              </a:spcAft>
              <a:defRPr sz="1150">
                <a:solidFill>
                  <a:srgbClr val="CBD5E1"/>
                </a:solidFill>
              </a:defRPr>
            </a:pPr>
            <a:r>
              <a:t>•  GitHub Repository: github.com/haziqueimamgit/CodeCubicle-DataPilot</a:t>
            </a:r>
          </a:p>
          <a:p>
            <a:pPr>
              <a:spcAft>
                <a:spcPts val="600"/>
              </a:spcAft>
              <a:defRPr sz="1150">
                <a:solidFill>
                  <a:srgbClr val="CBD5E1"/>
                </a:solidFill>
              </a:defRPr>
            </a:pPr>
            <a:r>
              <a:t>•  Branch: main (all 57 files pushed and up-to-date)</a:t>
            </a:r>
          </a:p>
          <a:p>
            <a:pPr>
              <a:spcAft>
                <a:spcPts val="600"/>
              </a:spcAft>
              <a:defRPr sz="1150">
                <a:solidFill>
                  <a:srgbClr val="CBD5E1"/>
                </a:solidFill>
              </a:defRPr>
            </a:pPr>
            <a:r>
              <a:t>•  Backend: FastAPI (http://localhost:8000)</a:t>
            </a:r>
          </a:p>
          <a:p>
            <a:pPr>
              <a:spcAft>
                <a:spcPts val="600"/>
              </a:spcAft>
              <a:defRPr sz="1150">
                <a:solidFill>
                  <a:srgbClr val="CBD5E1"/>
                </a:solidFill>
              </a:defRPr>
            </a:pPr>
            <a:r>
              <a:t>•  Frontend: React 19 + TypeScript (http://localhost:5173)</a:t>
            </a:r>
          </a:p>
          <a:p>
            <a:pPr>
              <a:spcAft>
                <a:spcPts val="600"/>
              </a:spcAft>
              <a:defRPr sz="1150">
                <a:solidFill>
                  <a:srgbClr val="CBD5E1"/>
                </a:solidFill>
              </a:defRPr>
            </a:pPr>
            <a:r>
              <a:t>•  Documentation: Comprehensive README.md with architecture &amp; walkthrough</a:t>
            </a:r>
          </a:p>
          <a:p>
            <a:pPr>
              <a:spcAft>
                <a:spcPts val="600"/>
              </a:spcAft>
              <a:defRPr sz="1150">
                <a:solidFill>
                  <a:srgbClr val="CBD5E1"/>
                </a:solidFill>
              </a:defRPr>
            </a:pPr>
            <a:r>
              <a:t>•  Author: Hazique Imam  |  Code Cubicle 6.0 Hackathon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