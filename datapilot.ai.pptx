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JetBrains Mono Medium"/>
      <p:regular r:id="rId28"/>
      <p:bold r:id="rId29"/>
      <p:italic r:id="rId30"/>
      <p:boldItalic r:id="rId31"/>
    </p:embeddedFont>
    <p:embeddedFont>
      <p:font typeface="JetBrains Mono SemiBold"/>
      <p:regular r:id="rId32"/>
      <p:bold r:id="rId33"/>
      <p:italic r:id="rId34"/>
      <p:boldItalic r:id="rId35"/>
    </p:embeddedFont>
    <p:embeddedFont>
      <p:font typeface="Inter ExtraBold"/>
      <p:bold r:id="rId36"/>
      <p:boldItalic r:id="rId37"/>
    </p:embeddedFont>
    <p:embeddedFont>
      <p:font typeface="Inter Medium"/>
      <p:regular r:id="rId38"/>
      <p:bold r:id="rId39"/>
      <p:italic r:id="rId40"/>
      <p:boldItalic r:id="rId41"/>
    </p:embeddedFont>
    <p:embeddedFont>
      <p:font typeface="JetBrains Mono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italic.fntdata"/><Relationship Id="rId20" Type="http://schemas.openxmlformats.org/officeDocument/2006/relationships/font" Target="fonts/InterSemiBold-regular.fntdata"/><Relationship Id="rId42" Type="http://schemas.openxmlformats.org/officeDocument/2006/relationships/font" Target="fonts/JetBrainsMono-bold.fntdata"/><Relationship Id="rId41" Type="http://schemas.openxmlformats.org/officeDocument/2006/relationships/font" Target="fonts/InterMedium-boldItalic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43" Type="http://schemas.openxmlformats.org/officeDocument/2006/relationships/font" Target="fonts/JetBrainsMono-boldItalic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JetBrainsMonoMedium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Medium-boldItalic.fntdata"/><Relationship Id="rId30" Type="http://schemas.openxmlformats.org/officeDocument/2006/relationships/font" Target="fonts/JetBrainsMonoMedium-italic.fntdata"/><Relationship Id="rId11" Type="http://schemas.openxmlformats.org/officeDocument/2006/relationships/slide" Target="slides/slide6.xml"/><Relationship Id="rId33" Type="http://schemas.openxmlformats.org/officeDocument/2006/relationships/font" Target="fonts/JetBrainsMonoSemiBold-bold.fntdata"/><Relationship Id="rId10" Type="http://schemas.openxmlformats.org/officeDocument/2006/relationships/slide" Target="slides/slide5.xml"/><Relationship Id="rId32" Type="http://schemas.openxmlformats.org/officeDocument/2006/relationships/font" Target="fonts/JetBrainsMono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JetBrainsMono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JetBrainsMono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InterExtraBold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ExtraBold-bold.fntdata"/><Relationship Id="rId17" Type="http://schemas.openxmlformats.org/officeDocument/2006/relationships/slide" Target="slides/slide12.xml"/><Relationship Id="rId39" Type="http://schemas.openxmlformats.org/officeDocument/2006/relationships/font" Target="fonts/InterMedium-bold.fntdata"/><Relationship Id="rId16" Type="http://schemas.openxmlformats.org/officeDocument/2006/relationships/slide" Target="slides/slide11.xml"/><Relationship Id="rId38" Type="http://schemas.openxmlformats.org/officeDocument/2006/relationships/font" Target="fonts/InterMedium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255334874a8672e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255334874a8672e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255334874a8672ec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255334874a8672ec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255334874a8672ec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255334874a8672ec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255334874a8672ec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255334874a8672ec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255334874a8672ec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255334874a8672ec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255334874a8672ec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255334874a8672ec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255334874a8672ec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h255334874a8672ec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255334874a8672ec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h255334874a8672ec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255334874a8672ec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255334874a8672ec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255334874a8672ec_0_1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h255334874a8672ec_0_1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255334874a8672ec_0_1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h255334874a8672ec_0_1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255334874a8672ec_0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h255334874a8672ec_0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255334874a8672ec_0_1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255334874a8672ec_0_1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h255334874a8672ec_0_1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h255334874a8672ec_0_1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255334874a8672ec_6_0)">
  <p:cSld name="Generated (h255334874a8672ec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05075" y="-2505075"/>
            <a:ext cx="7867800" cy="76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2913" y="438150"/>
            <a:ext cx="4891200" cy="47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47738"/>
            <a:ext cx="9144000" cy="38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9238" y="0"/>
            <a:ext cx="61056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14"/>
          <p:cNvGrpSpPr/>
          <p:nvPr/>
        </p:nvGrpSpPr>
        <p:grpSpPr>
          <a:xfrm>
            <a:off x="762000" y="714375"/>
            <a:ext cx="2952900" cy="266700"/>
            <a:chOff x="0" y="0"/>
            <a:chExt cx="2952900" cy="2667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2952900" cy="2667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152400" y="38100"/>
              <a:ext cx="266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CODE CUBICLE 6.0 | PS 01</a:t>
              </a:r>
              <a:endParaRPr b="0" sz="10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762000" y="1190625"/>
            <a:ext cx="7620000" cy="742875"/>
            <a:chOff x="0" y="0"/>
            <a:chExt cx="7620000" cy="742875"/>
          </a:xfrm>
        </p:grpSpPr>
        <p:sp>
          <p:nvSpPr>
            <p:cNvPr id="64" name="Google Shape;64;p14"/>
            <p:cNvSpPr txBox="1"/>
            <p:nvPr/>
          </p:nvSpPr>
          <p:spPr>
            <a:xfrm>
              <a:off x="0" y="0"/>
              <a:ext cx="7620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407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Data</a:t>
              </a:r>
              <a:r>
                <a:rPr b="0" lang="en-GB" sz="407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Pilot</a:t>
              </a:r>
              <a:r>
                <a:rPr b="0" lang="en-GB" sz="407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.ai</a:t>
              </a:r>
              <a:endParaRPr b="0" sz="407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pic>
          <p:nvPicPr>
            <p:cNvPr id="65" name="Google Shape;65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714375"/>
              <a:ext cx="1138200" cy="2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" name="Google Shape;66;p14"/>
          <p:cNvGrpSpPr/>
          <p:nvPr/>
        </p:nvGrpSpPr>
        <p:grpSpPr>
          <a:xfrm>
            <a:off x="762000" y="2143125"/>
            <a:ext cx="7620000" cy="952500"/>
            <a:chOff x="0" y="0"/>
            <a:chExt cx="7620000" cy="952500"/>
          </a:xfrm>
        </p:grpSpPr>
        <p:sp>
          <p:nvSpPr>
            <p:cNvPr id="67" name="Google Shape;67;p14"/>
            <p:cNvSpPr txBox="1"/>
            <p:nvPr/>
          </p:nvSpPr>
          <p:spPr>
            <a:xfrm>
              <a:off x="0" y="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6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AI-Powered Data Intelligence Platform</a:t>
              </a:r>
              <a:endParaRPr b="0" sz="16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0" y="38100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Turn plain English into structured, source-backed business datasets — automatically.</a:t>
              </a:r>
              <a:endParaRPr b="0" sz="13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757238" y="3424238"/>
            <a:ext cx="2390700" cy="1057200"/>
            <a:chOff x="-4762" y="-4762"/>
            <a:chExt cx="2390700" cy="1057200"/>
          </a:xfrm>
        </p:grpSpPr>
        <p:pic>
          <p:nvPicPr>
            <p:cNvPr id="70" name="Google Shape;70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-4762" y="-4762"/>
              <a:ext cx="2390700" cy="10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4"/>
            <p:cNvSpPr txBox="1"/>
            <p:nvPr/>
          </p:nvSpPr>
          <p:spPr>
            <a:xfrm>
              <a:off x="190500" y="190500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Natural Language</a:t>
              </a:r>
              <a:endParaRPr b="0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Query complex databases using simple English prompts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3376613" y="3424238"/>
            <a:ext cx="2390700" cy="1057200"/>
            <a:chOff x="-4762" y="-4762"/>
            <a:chExt cx="2390700" cy="1057200"/>
          </a:xfrm>
        </p:grpSpPr>
        <p:pic>
          <p:nvPicPr>
            <p:cNvPr id="73" name="Google Shape;73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-4762" y="-4762"/>
              <a:ext cx="2390700" cy="10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4"/>
            <p:cNvSpPr txBox="1"/>
            <p:nvPr/>
          </p:nvSpPr>
          <p:spPr>
            <a:xfrm>
              <a:off x="190500" y="190500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Structured Output</a:t>
              </a:r>
              <a:endParaRPr b="0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Instantly convert unstructured queries into ready datasets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5995988" y="3424238"/>
            <a:ext cx="2390700" cy="1057200"/>
            <a:chOff x="-4762" y="-4762"/>
            <a:chExt cx="2390700" cy="1057200"/>
          </a:xfrm>
        </p:grpSpPr>
        <p:pic>
          <p:nvPicPr>
            <p:cNvPr id="76" name="Google Shape;76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-4762" y="-4762"/>
              <a:ext cx="2390700" cy="10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4"/>
            <p:cNvSpPr txBox="1"/>
            <p:nvPr/>
          </p:nvSpPr>
          <p:spPr>
            <a:xfrm>
              <a:off x="190500" y="190500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Source-Backed</a:t>
              </a:r>
              <a:endParaRPr b="0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Verifiable business data with clear provenance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-2505075" y="-2505075"/>
            <a:ext cx="7867800" cy="76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 rotWithShape="1">
          <a:blip r:embed="rId4">
            <a:alphaModFix/>
          </a:blip>
          <a:srcRect b="60" l="0" r="0" t="50"/>
          <a:stretch/>
        </p:blipFill>
        <p:spPr>
          <a:xfrm>
            <a:off x="4252913" y="438150"/>
            <a:ext cx="4886400" cy="46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47738"/>
            <a:ext cx="9144000" cy="38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9238" y="0"/>
            <a:ext cx="61056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5"/>
          <p:cNvGrpSpPr/>
          <p:nvPr/>
        </p:nvGrpSpPr>
        <p:grpSpPr>
          <a:xfrm>
            <a:off x="762000" y="428625"/>
            <a:ext cx="2095500" cy="247800"/>
            <a:chOff x="0" y="0"/>
            <a:chExt cx="2095500" cy="2478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20955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133350" y="28575"/>
              <a:ext cx="1828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THE PROBLEM</a:t>
              </a:r>
              <a:endParaRPr b="0" sz="10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89" name="Google Shape;89;p15"/>
          <p:cNvSpPr txBox="1"/>
          <p:nvPr/>
        </p:nvSpPr>
        <p:spPr>
          <a:xfrm>
            <a:off x="762000" y="809625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21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Businesses Waste Time Building Manual Data Scrapers</a:t>
            </a:r>
            <a:endParaRPr b="0" sz="221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762000" y="1428750"/>
            <a:ext cx="3619500" cy="1047900"/>
            <a:chOff x="0" y="0"/>
            <a:chExt cx="3619500" cy="1047900"/>
          </a:xfrm>
        </p:grpSpPr>
        <p:sp>
          <p:nvSpPr>
            <p:cNvPr id="91" name="Google Shape;91;p15"/>
            <p:cNvSpPr/>
            <p:nvPr/>
          </p:nvSpPr>
          <p:spPr>
            <a:xfrm>
              <a:off x="0" y="0"/>
              <a:ext cx="3619500" cy="1047900"/>
            </a:xfrm>
            <a:prstGeom prst="roundRect">
              <a:avLst>
                <a:gd fmla="val 9090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190500" y="152400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Fragmented Scraping</a:t>
              </a:r>
              <a:endParaRPr b="1" sz="111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Companies need data from the web (jobs, prices, leads), but building custom scrapers for each is time-consuming and non-scalable.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4762500" y="1428750"/>
            <a:ext cx="3619500" cy="1047900"/>
            <a:chOff x="0" y="0"/>
            <a:chExt cx="3619500" cy="10479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3619500" cy="1047900"/>
            </a:xfrm>
            <a:prstGeom prst="roundRect">
              <a:avLst>
                <a:gd fmla="val 9090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190500" y="152400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No Centralized Management</a:t>
              </a:r>
              <a:endParaRPr b="1" sz="111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Lacks a unified place to manage, monitor, or export collected data cleanly across pipelines.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5"/>
          <p:cNvGrpSpPr/>
          <p:nvPr/>
        </p:nvGrpSpPr>
        <p:grpSpPr>
          <a:xfrm>
            <a:off x="762000" y="2619375"/>
            <a:ext cx="3619500" cy="1047900"/>
            <a:chOff x="0" y="0"/>
            <a:chExt cx="3619500" cy="1047900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3619500" cy="1047900"/>
            </a:xfrm>
            <a:prstGeom prst="roundRect">
              <a:avLst>
                <a:gd fmla="val 9090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190500" y="152400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High Technical Barrier</a:t>
              </a:r>
              <a:endParaRPr b="1" sz="111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Non-technical users can't define, run, or adjust data pipelines without engineering support.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4762500" y="2619375"/>
            <a:ext cx="3619500" cy="1047900"/>
            <a:chOff x="0" y="0"/>
            <a:chExt cx="3619500" cy="1047900"/>
          </a:xfrm>
        </p:grpSpPr>
        <p:sp>
          <p:nvSpPr>
            <p:cNvPr id="103" name="Google Shape;103;p15"/>
            <p:cNvSpPr/>
            <p:nvPr/>
          </p:nvSpPr>
          <p:spPr>
            <a:xfrm>
              <a:off x="0" y="0"/>
              <a:ext cx="3619500" cy="1047900"/>
            </a:xfrm>
            <a:prstGeom prst="roundRect">
              <a:avLst>
                <a:gd fmla="val 9090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190500" y="152400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Zero Traceability</a:t>
              </a:r>
              <a:endParaRPr b="1" sz="111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Scraped results have no source provenance — making it impossible to verify where data originated.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762000" y="3905250"/>
            <a:ext cx="7620000" cy="762000"/>
            <a:chOff x="0" y="0"/>
            <a:chExt cx="7620000" cy="762000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7620000" cy="762000"/>
            </a:xfrm>
            <a:prstGeom prst="roundRect">
              <a:avLst>
                <a:gd fmla="val 12500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228600" y="152400"/>
              <a:ext cx="7162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GAP</a:t>
              </a:r>
              <a:endParaRPr b="1" sz="111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1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There's no tool that lets you say </a:t>
              </a:r>
              <a:r>
                <a:rPr b="0" lang="en-GB" sz="1110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"collect AI job listings"</a:t>
              </a:r>
              <a:r>
                <a:rPr b="0" lang="en-GB" sz="111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and get clean, structured data automatically.</a:t>
              </a:r>
              <a:endParaRPr b="0" sz="111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 amt="60000"/>
          </a:blip>
          <a:srcRect b="60" l="0" r="0" t="60"/>
          <a:stretch/>
        </p:blipFill>
        <p:spPr>
          <a:xfrm>
            <a:off x="-2505075" y="-2505075"/>
            <a:ext cx="7867800" cy="76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 rotWithShape="1">
          <a:blip r:embed="rId4">
            <a:alphaModFix amt="60000"/>
          </a:blip>
          <a:srcRect b="60" l="0" r="0" t="50"/>
          <a:stretch/>
        </p:blipFill>
        <p:spPr>
          <a:xfrm>
            <a:off x="4248150" y="438150"/>
            <a:ext cx="4886400" cy="469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16"/>
          <p:cNvGrpSpPr/>
          <p:nvPr/>
        </p:nvGrpSpPr>
        <p:grpSpPr>
          <a:xfrm>
            <a:off x="762000" y="381000"/>
            <a:ext cx="1524000" cy="247800"/>
            <a:chOff x="0" y="0"/>
            <a:chExt cx="1524000" cy="247800"/>
          </a:xfrm>
        </p:grpSpPr>
        <p:sp>
          <p:nvSpPr>
            <p:cNvPr id="116" name="Google Shape;116;p16"/>
            <p:cNvSpPr/>
            <p:nvPr/>
          </p:nvSpPr>
          <p:spPr>
            <a:xfrm>
              <a:off x="0" y="0"/>
              <a:ext cx="15240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133350" y="28575"/>
              <a:ext cx="1257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OUR SOLUTION</a:t>
              </a:r>
              <a:endParaRPr b="0" sz="10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118" name="Google Shape;118;p16"/>
          <p:cNvSpPr txBox="1"/>
          <p:nvPr/>
        </p:nvSpPr>
        <p:spPr>
          <a:xfrm>
            <a:off x="762000" y="723900"/>
            <a:ext cx="7620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DataPilot: One Platform, One Prompt</a:t>
            </a:r>
            <a:endParaRPr b="0" sz="20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Complete, clean, traceable data generated automatically from natural language.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9" name="Google Shape;119;p16"/>
          <p:cNvGrpSpPr/>
          <p:nvPr/>
        </p:nvGrpSpPr>
        <p:grpSpPr>
          <a:xfrm>
            <a:off x="762000" y="1381125"/>
            <a:ext cx="7620150" cy="2047875"/>
            <a:chOff x="0" y="0"/>
            <a:chExt cx="7620150" cy="2047875"/>
          </a:xfrm>
        </p:grpSpPr>
        <p:grpSp>
          <p:nvGrpSpPr>
            <p:cNvPr id="120" name="Google Shape;120;p16"/>
            <p:cNvGrpSpPr/>
            <p:nvPr/>
          </p:nvGrpSpPr>
          <p:grpSpPr>
            <a:xfrm>
              <a:off x="0" y="0"/>
              <a:ext cx="2381400" cy="952500"/>
              <a:chOff x="0" y="0"/>
              <a:chExt cx="2381400" cy="952500"/>
            </a:xfrm>
          </p:grpSpPr>
          <p:sp>
            <p:nvSpPr>
              <p:cNvPr id="121" name="Google Shape;121;p16"/>
              <p:cNvSpPr/>
              <p:nvPr/>
            </p:nvSpPr>
            <p:spPr>
              <a:xfrm>
                <a:off x="0" y="0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152400" y="133350"/>
                <a:ext cx="2076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</a:t>
                </a:r>
                <a:endParaRPr b="1" sz="11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Plain English Prompt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Users describe what they need in simple plain English.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3" name="Google Shape;123;p16"/>
            <p:cNvGrpSpPr/>
            <p:nvPr/>
          </p:nvGrpSpPr>
          <p:grpSpPr>
            <a:xfrm>
              <a:off x="2619375" y="0"/>
              <a:ext cx="2381400" cy="952500"/>
              <a:chOff x="0" y="0"/>
              <a:chExt cx="2381400" cy="952500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0" y="0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 txBox="1"/>
              <p:nvPr/>
            </p:nvSpPr>
            <p:spPr>
              <a:xfrm>
                <a:off x="152400" y="133350"/>
                <a:ext cx="2076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02</a:t>
                </a:r>
                <a:endParaRPr b="1" sz="11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AI Workflow Design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AI understands intent and designs collection workflow.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6" name="Google Shape;126;p16"/>
            <p:cNvGrpSpPr/>
            <p:nvPr/>
          </p:nvGrpSpPr>
          <p:grpSpPr>
            <a:xfrm>
              <a:off x="5238750" y="0"/>
              <a:ext cx="2381400" cy="952500"/>
              <a:chOff x="0" y="0"/>
              <a:chExt cx="2381400" cy="952500"/>
            </a:xfrm>
          </p:grpSpPr>
          <p:sp>
            <p:nvSpPr>
              <p:cNvPr id="127" name="Google Shape;127;p16"/>
              <p:cNvSpPr/>
              <p:nvPr/>
            </p:nvSpPr>
            <p:spPr>
              <a:xfrm>
                <a:off x="0" y="0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6"/>
              <p:cNvSpPr txBox="1"/>
              <p:nvPr/>
            </p:nvSpPr>
            <p:spPr>
              <a:xfrm>
                <a:off x="152400" y="133350"/>
                <a:ext cx="2076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03</a:t>
                </a:r>
                <a:endParaRPr b="1" sz="11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Multi-Source Collection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Data is gathered from multiple permitted public sources.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9" name="Google Shape;129;p16"/>
            <p:cNvGrpSpPr/>
            <p:nvPr/>
          </p:nvGrpSpPr>
          <p:grpSpPr>
            <a:xfrm>
              <a:off x="0" y="1095375"/>
              <a:ext cx="2381400" cy="952500"/>
              <a:chOff x="0" y="0"/>
              <a:chExt cx="2381400" cy="952500"/>
            </a:xfrm>
          </p:grpSpPr>
          <p:sp>
            <p:nvSpPr>
              <p:cNvPr id="130" name="Google Shape;130;p16"/>
              <p:cNvSpPr/>
              <p:nvPr/>
            </p:nvSpPr>
            <p:spPr>
              <a:xfrm>
                <a:off x="0" y="0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6"/>
              <p:cNvSpPr txBox="1"/>
              <p:nvPr/>
            </p:nvSpPr>
            <p:spPr>
              <a:xfrm>
                <a:off x="152400" y="133350"/>
                <a:ext cx="2076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04</a:t>
                </a:r>
                <a:endParaRPr b="1" sz="11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Cleaned &amp; Validated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Results are cleaned, validated, deduplicated, and scored.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2" name="Google Shape;132;p16"/>
            <p:cNvGrpSpPr/>
            <p:nvPr/>
          </p:nvGrpSpPr>
          <p:grpSpPr>
            <a:xfrm>
              <a:off x="2619375" y="1095375"/>
              <a:ext cx="2381400" cy="952500"/>
              <a:chOff x="0" y="0"/>
              <a:chExt cx="2381400" cy="952500"/>
            </a:xfrm>
          </p:grpSpPr>
          <p:sp>
            <p:nvSpPr>
              <p:cNvPr id="133" name="Google Shape;133;p16"/>
              <p:cNvSpPr/>
              <p:nvPr/>
            </p:nvSpPr>
            <p:spPr>
              <a:xfrm>
                <a:off x="0" y="0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152400" y="133350"/>
                <a:ext cx="2076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05</a:t>
                </a:r>
                <a:endParaRPr b="1" sz="11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Source Traceability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Every single row includes source traceability metadata.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5" name="Google Shape;135;p16"/>
            <p:cNvGrpSpPr/>
            <p:nvPr/>
          </p:nvGrpSpPr>
          <p:grpSpPr>
            <a:xfrm>
              <a:off x="5238750" y="1095375"/>
              <a:ext cx="2381400" cy="952500"/>
              <a:chOff x="0" y="0"/>
              <a:chExt cx="2381400" cy="952500"/>
            </a:xfrm>
          </p:grpSpPr>
          <p:sp>
            <p:nvSpPr>
              <p:cNvPr id="136" name="Google Shape;136;p16"/>
              <p:cNvSpPr/>
              <p:nvPr/>
            </p:nvSpPr>
            <p:spPr>
              <a:xfrm>
                <a:off x="0" y="0"/>
                <a:ext cx="2381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6"/>
              <p:cNvSpPr txBox="1"/>
              <p:nvPr/>
            </p:nvSpPr>
            <p:spPr>
              <a:xfrm>
                <a:off x="152400" y="133350"/>
                <a:ext cx="2076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06</a:t>
                </a:r>
                <a:endParaRPr b="1" sz="11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Interactive Dashboard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Explore results with built-in search, filter, and export.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8" name="Google Shape;138;p16"/>
          <p:cNvGrpSpPr/>
          <p:nvPr/>
        </p:nvGrpSpPr>
        <p:grpSpPr>
          <a:xfrm>
            <a:off x="762000" y="3619500"/>
            <a:ext cx="7620000" cy="952500"/>
            <a:chOff x="0" y="0"/>
            <a:chExt cx="7620000" cy="952500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7620000" cy="952500"/>
            </a:xfrm>
            <a:prstGeom prst="roundRect">
              <a:avLst>
                <a:gd fmla="val 10000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228600" y="152400"/>
              <a:ext cx="7162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RESULT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From Prompt to Production-Ready Dataset in Seconds</a:t>
              </a:r>
              <a:endParaRPr b="0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Eliminates manual scraping development completely while maintaining 100% data auditability.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 rotWithShape="1">
          <a:blip r:embed="rId3">
            <a:alphaModFix/>
          </a:blip>
          <a:srcRect b="10" l="0" r="0" t="110"/>
          <a:stretch/>
        </p:blipFill>
        <p:spPr>
          <a:xfrm>
            <a:off x="-2505075" y="-2505075"/>
            <a:ext cx="7867800" cy="76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/>
          <p:cNvPicPr preferRelativeResize="0"/>
          <p:nvPr/>
        </p:nvPicPr>
        <p:blipFill rotWithShape="1">
          <a:blip r:embed="rId4">
            <a:alphaModFix/>
          </a:blip>
          <a:srcRect b="20" l="0" r="0" t="90"/>
          <a:stretch/>
        </p:blipFill>
        <p:spPr>
          <a:xfrm>
            <a:off x="4248150" y="438150"/>
            <a:ext cx="4886400" cy="469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7"/>
          <p:cNvGrpSpPr/>
          <p:nvPr/>
        </p:nvGrpSpPr>
        <p:grpSpPr>
          <a:xfrm>
            <a:off x="762000" y="333375"/>
            <a:ext cx="1905000" cy="247800"/>
            <a:chOff x="0" y="0"/>
            <a:chExt cx="1905000" cy="2478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19050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133350" y="28575"/>
              <a:ext cx="1638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CAPABILITY MAPPING</a:t>
              </a:r>
              <a:endParaRPr b="0" sz="10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150" name="Google Shape;150;p17"/>
          <p:cNvSpPr txBox="1"/>
          <p:nvPr/>
        </p:nvSpPr>
        <p:spPr>
          <a:xfrm>
            <a:off x="762000" y="6477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Problem Statement Alignment</a:t>
            </a:r>
            <a:endParaRPr b="0" sz="185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Full-coverage mapping of requirements to DataPilot's operational engine.</a:t>
            </a:r>
            <a:endParaRPr b="0" sz="1018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1" name="Google Shape;151;p17"/>
          <p:cNvGrpSpPr/>
          <p:nvPr/>
        </p:nvGrpSpPr>
        <p:grpSpPr>
          <a:xfrm>
            <a:off x="762000" y="1190625"/>
            <a:ext cx="7620000" cy="3571800"/>
            <a:chOff x="0" y="0"/>
            <a:chExt cx="7620000" cy="35718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7620000" cy="3571800"/>
            </a:xfrm>
            <a:prstGeom prst="roundRect">
              <a:avLst>
                <a:gd fmla="val 2666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0" y="0"/>
              <a:ext cx="7620000" cy="304800"/>
            </a:xfrm>
            <a:prstGeom prst="roundRect">
              <a:avLst>
                <a:gd fmla="val 3125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0" y="152400"/>
              <a:ext cx="7620000" cy="152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" name="Google Shape;155;p17"/>
            <p:cNvCxnSpPr/>
            <p:nvPr/>
          </p:nvCxnSpPr>
          <p:spPr>
            <a:xfrm>
              <a:off x="2667000" y="0"/>
              <a:ext cx="0" cy="3571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152400" y="66675"/>
              <a:ext cx="23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WHAT WAS ASKED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2819400" y="66675"/>
              <a:ext cx="457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WHAT DATAPILOT DELIVERS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8" name="Google Shape;158;p17"/>
            <p:cNvGrpSpPr/>
            <p:nvPr/>
          </p:nvGrpSpPr>
          <p:grpSpPr>
            <a:xfrm>
              <a:off x="0" y="381000"/>
              <a:ext cx="7620000" cy="3124200"/>
              <a:chOff x="0" y="76200"/>
              <a:chExt cx="7620000" cy="3124200"/>
            </a:xfrm>
          </p:grpSpPr>
          <p:cxnSp>
            <p:nvCxnSpPr>
              <p:cNvPr id="159" name="Google Shape;159;p17"/>
              <p:cNvCxnSpPr/>
              <p:nvPr/>
            </p:nvCxnSpPr>
            <p:spPr>
              <a:xfrm>
                <a:off x="0" y="36195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0" name="Google Shape;160;p17"/>
              <p:cNvSpPr txBox="1"/>
              <p:nvPr/>
            </p:nvSpPr>
            <p:spPr>
              <a:xfrm>
                <a:off x="152400" y="76200"/>
                <a:ext cx="23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Understand NL prompts</a:t>
                </a:r>
                <a:endParaRPr b="0" sz="9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61" name="Google Shape;161;p17"/>
              <p:cNvSpPr txBox="1"/>
              <p:nvPr/>
            </p:nvSpPr>
            <p:spPr>
              <a:xfrm>
                <a:off x="2819400" y="76200"/>
                <a:ext cx="457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AI Requirement Parser</a:t>
                </a: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— extracts intent, domain, entities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62" name="Google Shape;162;p17"/>
              <p:cNvCxnSpPr/>
              <p:nvPr/>
            </p:nvCxnSpPr>
            <p:spPr>
              <a:xfrm>
                <a:off x="0" y="72390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3" name="Google Shape;163;p17"/>
              <p:cNvSpPr txBox="1"/>
              <p:nvPr/>
            </p:nvSpPr>
            <p:spPr>
              <a:xfrm>
                <a:off x="152400" y="438150"/>
                <a:ext cx="23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Design + execute workflows</a:t>
                </a:r>
                <a:endParaRPr b="0" sz="9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2819400" y="438150"/>
                <a:ext cx="457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Dynamic AI Planner</a:t>
                </a: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previews pipeline before launch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65" name="Google Shape;165;p17"/>
              <p:cNvCxnSpPr/>
              <p:nvPr/>
            </p:nvCxnSpPr>
            <p:spPr>
              <a:xfrm>
                <a:off x="0" y="108585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6" name="Google Shape;166;p17"/>
              <p:cNvSpPr txBox="1"/>
              <p:nvPr/>
            </p:nvSpPr>
            <p:spPr>
              <a:xfrm>
                <a:off x="152400" y="800100"/>
                <a:ext cx="23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Collect from multiple sources</a:t>
                </a:r>
                <a:endParaRPr b="0" sz="9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67" name="Google Shape;167;p17"/>
              <p:cNvSpPr txBox="1"/>
              <p:nvPr/>
            </p:nvSpPr>
            <p:spPr>
              <a:xfrm>
                <a:off x="2819400" y="800100"/>
                <a:ext cx="457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 Live Connectors:</a:t>
                </a: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Jobs, Market, Leads, Synthetic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68" name="Google Shape;168;p17"/>
              <p:cNvCxnSpPr/>
              <p:nvPr/>
            </p:nvCxnSpPr>
            <p:spPr>
              <a:xfrm>
                <a:off x="0" y="144780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9" name="Google Shape;169;p17"/>
              <p:cNvSpPr txBox="1"/>
              <p:nvPr/>
            </p:nvSpPr>
            <p:spPr>
              <a:xfrm>
                <a:off x="152400" y="1162050"/>
                <a:ext cx="23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Clean, structure, validate, dedup</a:t>
                </a:r>
                <a:endParaRPr b="0" sz="9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0" name="Google Shape;170;p17"/>
              <p:cNvSpPr txBox="1"/>
              <p:nvPr/>
            </p:nvSpPr>
            <p:spPr>
              <a:xfrm>
                <a:off x="2819400" y="1162050"/>
                <a:ext cx="457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Type inference, null imputation, hash-based dedup, schema checks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71" name="Google Shape;171;p17"/>
              <p:cNvCxnSpPr/>
              <p:nvPr/>
            </p:nvCxnSpPr>
            <p:spPr>
              <a:xfrm>
                <a:off x="0" y="180975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2" name="Google Shape;172;p17"/>
              <p:cNvSpPr txBox="1"/>
              <p:nvPr/>
            </p:nvSpPr>
            <p:spPr>
              <a:xfrm>
                <a:off x="152400" y="1524000"/>
                <a:ext cx="23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Source-backed traceable data</a:t>
                </a:r>
                <a:endParaRPr b="0" sz="9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3" name="Google Shape;173;p17"/>
              <p:cNvSpPr txBox="1"/>
              <p:nvPr/>
            </p:nvSpPr>
            <p:spPr>
              <a:xfrm>
                <a:off x="2819400" y="1524000"/>
                <a:ext cx="457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Every row has </a:t>
                </a:r>
                <a:r>
                  <a:rPr b="0" lang="en-GB" sz="850">
                    <a:solidFill>
                      <a:srgbClr val="38BDF8"/>
                    </a:solidFill>
                    <a:highlight>
                      <a:srgbClr val="0F172A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_source_url</a:t>
                </a: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0" lang="en-GB" sz="850">
                    <a:solidFill>
                      <a:srgbClr val="38BDF8"/>
                    </a:solidFill>
                    <a:highlight>
                      <a:srgbClr val="0F172A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_collected_at</a:t>
                </a: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0" lang="en-GB" sz="850">
                    <a:solidFill>
                      <a:srgbClr val="38BDF8"/>
                    </a:solidFill>
                    <a:highlight>
                      <a:srgbClr val="0F172A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_connector</a:t>
                </a: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0" lang="en-GB" sz="850">
                    <a:solidFill>
                      <a:srgbClr val="38BDF8"/>
                    </a:solidFill>
                    <a:highlight>
                      <a:srgbClr val="0F172A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_source_domain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74" name="Google Shape;174;p17"/>
              <p:cNvCxnSpPr/>
              <p:nvPr/>
            </p:nvCxnSpPr>
            <p:spPr>
              <a:xfrm>
                <a:off x="0" y="217170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5" name="Google Shape;175;p17"/>
              <p:cNvSpPr txBox="1"/>
              <p:nvPr/>
            </p:nvSpPr>
            <p:spPr>
              <a:xfrm>
                <a:off x="152400" y="1885950"/>
                <a:ext cx="23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Monitor &amp; manage tasks</a:t>
                </a:r>
                <a:endParaRPr b="0" sz="9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6" name="Google Shape;176;p17"/>
              <p:cNvSpPr txBox="1"/>
              <p:nvPr/>
            </p:nvSpPr>
            <p:spPr>
              <a:xfrm>
                <a:off x="2819400" y="1885950"/>
                <a:ext cx="457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Live status badges, re-run, deletion, step-by-step execution logs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77" name="Google Shape;177;p17"/>
              <p:cNvCxnSpPr/>
              <p:nvPr/>
            </p:nvCxnSpPr>
            <p:spPr>
              <a:xfrm>
                <a:off x="0" y="253365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8" name="Google Shape;178;p17"/>
              <p:cNvSpPr txBox="1"/>
              <p:nvPr/>
            </p:nvSpPr>
            <p:spPr>
              <a:xfrm>
                <a:off x="152400" y="2247900"/>
                <a:ext cx="23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Interactive dashboard</a:t>
                </a:r>
                <a:endParaRPr b="0" sz="9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9" name="Google Shape;179;p17"/>
              <p:cNvSpPr txBox="1"/>
              <p:nvPr/>
            </p:nvSpPr>
            <p:spPr>
              <a:xfrm>
                <a:off x="2819400" y="2247900"/>
                <a:ext cx="457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Dashboard, Data Grid, column sort, live search, pagination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80" name="Google Shape;180;p17"/>
              <p:cNvCxnSpPr/>
              <p:nvPr/>
            </p:nvCxnSpPr>
            <p:spPr>
              <a:xfrm>
                <a:off x="0" y="289560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1" name="Google Shape;181;p17"/>
              <p:cNvSpPr txBox="1"/>
              <p:nvPr/>
            </p:nvSpPr>
            <p:spPr>
              <a:xfrm>
                <a:off x="152400" y="2609850"/>
                <a:ext cx="23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Workflow &amp; dataset history</a:t>
                </a:r>
                <a:endParaRPr b="0" sz="9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82" name="Google Shape;182;p17"/>
              <p:cNvSpPr txBox="1"/>
              <p:nvPr/>
            </p:nvSpPr>
            <p:spPr>
              <a:xfrm>
                <a:off x="2819400" y="2609850"/>
                <a:ext cx="457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Persistent SQLite</a:t>
                </a: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with SQLAlchemy ORM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3" name="Google Shape;183;p17"/>
              <p:cNvSpPr txBox="1"/>
              <p:nvPr/>
            </p:nvSpPr>
            <p:spPr>
              <a:xfrm>
                <a:off x="152400" y="2971800"/>
                <a:ext cx="23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Search, filter, export</a:t>
                </a:r>
                <a:endParaRPr b="0" sz="9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84" name="Google Shape;184;p17"/>
              <p:cNvSpPr txBox="1"/>
              <p:nvPr/>
            </p:nvSpPr>
            <p:spPr>
              <a:xfrm>
                <a:off x="2819400" y="2971800"/>
                <a:ext cx="457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Multi-column search, CSV export, JSON export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18"/>
          <p:cNvGrpSpPr/>
          <p:nvPr/>
        </p:nvGrpSpPr>
        <p:grpSpPr>
          <a:xfrm>
            <a:off x="762000" y="333375"/>
            <a:ext cx="1714500" cy="247800"/>
            <a:chOff x="0" y="0"/>
            <a:chExt cx="1714500" cy="247800"/>
          </a:xfrm>
        </p:grpSpPr>
        <p:sp>
          <p:nvSpPr>
            <p:cNvPr id="191" name="Google Shape;191;p18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133350" y="28575"/>
              <a:ext cx="1447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HOW IT WORKS</a:t>
              </a:r>
              <a:endParaRPr b="0" sz="10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193" name="Google Shape;193;p18"/>
          <p:cNvSpPr txBox="1"/>
          <p:nvPr/>
        </p:nvSpPr>
        <p:spPr>
          <a:xfrm>
            <a:off x="762000" y="6477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6-Stage Automated Pipeline</a:t>
            </a:r>
            <a:endParaRPr b="0" sz="185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From raw natural language input to structured, verified intelligence datasets.</a:t>
            </a:r>
            <a:endParaRPr b="0" sz="1018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4" name="Google Shape;194;p18"/>
          <p:cNvGrpSpPr/>
          <p:nvPr/>
        </p:nvGrpSpPr>
        <p:grpSpPr>
          <a:xfrm>
            <a:off x="762000" y="1285875"/>
            <a:ext cx="7620150" cy="2143200"/>
            <a:chOff x="0" y="0"/>
            <a:chExt cx="7620150" cy="2143200"/>
          </a:xfrm>
        </p:grpSpPr>
        <p:grpSp>
          <p:nvGrpSpPr>
            <p:cNvPr id="195" name="Google Shape;195;p18"/>
            <p:cNvGrpSpPr/>
            <p:nvPr/>
          </p:nvGrpSpPr>
          <p:grpSpPr>
            <a:xfrm>
              <a:off x="0" y="0"/>
              <a:ext cx="2381400" cy="1000200"/>
              <a:chOff x="0" y="0"/>
              <a:chExt cx="2381400" cy="1000200"/>
            </a:xfrm>
          </p:grpSpPr>
          <p:sp>
            <p:nvSpPr>
              <p:cNvPr id="196" name="Google Shape;196;p18"/>
              <p:cNvSpPr/>
              <p:nvPr/>
            </p:nvSpPr>
            <p:spPr>
              <a:xfrm>
                <a:off x="0" y="0"/>
                <a:ext cx="23814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8"/>
              <p:cNvSpPr txBox="1"/>
              <p:nvPr/>
            </p:nvSpPr>
            <p:spPr>
              <a:xfrm>
                <a:off x="152400" y="114300"/>
                <a:ext cx="2076600" cy="7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18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</a:t>
                </a:r>
                <a:endParaRPr b="1" sz="1018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AI Requirement Parser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Extracts intent, domain, and entities to select optimal connector.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8" name="Google Shape;198;p18"/>
            <p:cNvGrpSpPr/>
            <p:nvPr/>
          </p:nvGrpSpPr>
          <p:grpSpPr>
            <a:xfrm>
              <a:off x="2619375" y="0"/>
              <a:ext cx="2381400" cy="1000200"/>
              <a:chOff x="0" y="0"/>
              <a:chExt cx="2381400" cy="1000200"/>
            </a:xfrm>
          </p:grpSpPr>
          <p:sp>
            <p:nvSpPr>
              <p:cNvPr id="199" name="Google Shape;199;p18"/>
              <p:cNvSpPr/>
              <p:nvPr/>
            </p:nvSpPr>
            <p:spPr>
              <a:xfrm>
                <a:off x="0" y="0"/>
                <a:ext cx="23814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8"/>
              <p:cNvSpPr txBox="1"/>
              <p:nvPr/>
            </p:nvSpPr>
            <p:spPr>
              <a:xfrm>
                <a:off x="152400" y="114300"/>
                <a:ext cx="2076600" cy="7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18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02</a:t>
                </a:r>
                <a:endParaRPr b="1" sz="1018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Dynamic AI Planner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Previews execution stages for optional user review before launch.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1" name="Google Shape;201;p18"/>
            <p:cNvGrpSpPr/>
            <p:nvPr/>
          </p:nvGrpSpPr>
          <p:grpSpPr>
            <a:xfrm>
              <a:off x="5238750" y="0"/>
              <a:ext cx="2381400" cy="1000200"/>
              <a:chOff x="0" y="0"/>
              <a:chExt cx="2381400" cy="1000200"/>
            </a:xfrm>
          </p:grpSpPr>
          <p:sp>
            <p:nvSpPr>
              <p:cNvPr id="202" name="Google Shape;202;p18"/>
              <p:cNvSpPr/>
              <p:nvPr/>
            </p:nvSpPr>
            <p:spPr>
              <a:xfrm>
                <a:off x="0" y="0"/>
                <a:ext cx="23814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8"/>
              <p:cNvSpPr txBox="1"/>
              <p:nvPr/>
            </p:nvSpPr>
            <p:spPr>
              <a:xfrm>
                <a:off x="152400" y="114300"/>
                <a:ext cx="2076600" cy="7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18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03</a:t>
                </a:r>
                <a:endParaRPr b="1" sz="1018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Data Collection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Gathers data via Live APIs across Jobs, Market, Leads, &amp; Synthetic.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4" name="Google Shape;204;p18"/>
            <p:cNvGrpSpPr/>
            <p:nvPr/>
          </p:nvGrpSpPr>
          <p:grpSpPr>
            <a:xfrm>
              <a:off x="0" y="1143000"/>
              <a:ext cx="2381400" cy="1000200"/>
              <a:chOff x="0" y="0"/>
              <a:chExt cx="2381400" cy="1000200"/>
            </a:xfrm>
          </p:grpSpPr>
          <p:sp>
            <p:nvSpPr>
              <p:cNvPr id="205" name="Google Shape;205;p18"/>
              <p:cNvSpPr/>
              <p:nvPr/>
            </p:nvSpPr>
            <p:spPr>
              <a:xfrm>
                <a:off x="0" y="0"/>
                <a:ext cx="23814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8"/>
              <p:cNvSpPr txBox="1"/>
              <p:nvPr/>
            </p:nvSpPr>
            <p:spPr>
              <a:xfrm>
                <a:off x="152400" y="114300"/>
                <a:ext cx="2076600" cy="7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18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04</a:t>
                </a:r>
                <a:endParaRPr b="1" sz="1018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Clean &amp; Impute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Handles type inference, null value filling, and column normalization.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7" name="Google Shape;207;p18"/>
            <p:cNvGrpSpPr/>
            <p:nvPr/>
          </p:nvGrpSpPr>
          <p:grpSpPr>
            <a:xfrm>
              <a:off x="2619375" y="1143000"/>
              <a:ext cx="2381400" cy="1000200"/>
              <a:chOff x="0" y="0"/>
              <a:chExt cx="2381400" cy="1000200"/>
            </a:xfrm>
          </p:grpSpPr>
          <p:sp>
            <p:nvSpPr>
              <p:cNvPr id="208" name="Google Shape;208;p18"/>
              <p:cNvSpPr/>
              <p:nvPr/>
            </p:nvSpPr>
            <p:spPr>
              <a:xfrm>
                <a:off x="0" y="0"/>
                <a:ext cx="23814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8"/>
              <p:cNvSpPr txBox="1"/>
              <p:nvPr/>
            </p:nvSpPr>
            <p:spPr>
              <a:xfrm>
                <a:off x="152400" y="114300"/>
                <a:ext cx="2076600" cy="7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18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05</a:t>
                </a:r>
                <a:endParaRPr b="1" sz="1018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Validate &amp; Deduplicate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Enforces schema constraints and prunes duplicate records via full hash.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0" name="Google Shape;210;p18"/>
            <p:cNvGrpSpPr/>
            <p:nvPr/>
          </p:nvGrpSpPr>
          <p:grpSpPr>
            <a:xfrm>
              <a:off x="5238750" y="1143000"/>
              <a:ext cx="2381400" cy="1000200"/>
              <a:chOff x="0" y="0"/>
              <a:chExt cx="2381400" cy="1000200"/>
            </a:xfrm>
          </p:grpSpPr>
          <p:sp>
            <p:nvSpPr>
              <p:cNvPr id="211" name="Google Shape;211;p18"/>
              <p:cNvSpPr/>
              <p:nvPr/>
            </p:nvSpPr>
            <p:spPr>
              <a:xfrm>
                <a:off x="0" y="0"/>
                <a:ext cx="23814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8"/>
              <p:cNvSpPr txBox="1"/>
              <p:nvPr/>
            </p:nvSpPr>
            <p:spPr>
              <a:xfrm>
                <a:off x="152400" y="114300"/>
                <a:ext cx="2076600" cy="7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18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06</a:t>
                </a:r>
                <a:endParaRPr b="1" sz="1018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Score &amp; Persist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Assigns quality score, stores in SQLite, and displays in dashboard.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3" name="Google Shape;213;p18"/>
          <p:cNvGrpSpPr/>
          <p:nvPr/>
        </p:nvGrpSpPr>
        <p:grpSpPr>
          <a:xfrm>
            <a:off x="762000" y="3619500"/>
            <a:ext cx="7620000" cy="952500"/>
            <a:chOff x="0" y="0"/>
            <a:chExt cx="7620000" cy="952500"/>
          </a:xfrm>
        </p:grpSpPr>
        <p:sp>
          <p:nvSpPr>
            <p:cNvPr id="214" name="Google Shape;214;p18"/>
            <p:cNvSpPr/>
            <p:nvPr/>
          </p:nvSpPr>
          <p:spPr>
            <a:xfrm>
              <a:off x="0" y="0"/>
              <a:ext cx="7620000" cy="952500"/>
            </a:xfrm>
            <a:prstGeom prst="roundRect">
              <a:avLst>
                <a:gd fmla="val 10000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 txBox="1"/>
            <p:nvPr/>
          </p:nvSpPr>
          <p:spPr>
            <a:xfrm>
              <a:off x="228600" y="152400"/>
              <a:ext cx="7162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START-TO-FINISH PIPELINE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Triggered by User Prompt (Natural Language)</a:t>
              </a:r>
              <a:endParaRPr b="0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Runs fully autonomously through all 6 execution stages to generate audit-ready output.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9"/>
          <p:cNvGrpSpPr/>
          <p:nvPr/>
        </p:nvGrpSpPr>
        <p:grpSpPr>
          <a:xfrm>
            <a:off x="762000" y="333375"/>
            <a:ext cx="1524000" cy="247800"/>
            <a:chOff x="0" y="0"/>
            <a:chExt cx="1524000" cy="247800"/>
          </a:xfrm>
        </p:grpSpPr>
        <p:sp>
          <p:nvSpPr>
            <p:cNvPr id="221" name="Google Shape;221;p19"/>
            <p:cNvSpPr/>
            <p:nvPr/>
          </p:nvSpPr>
          <p:spPr>
            <a:xfrm>
              <a:off x="0" y="0"/>
              <a:ext cx="15240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133350" y="28575"/>
              <a:ext cx="1257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DATA SOURCES</a:t>
              </a:r>
              <a:endParaRPr b="0" sz="10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223" name="Google Shape;223;p19"/>
          <p:cNvSpPr txBox="1"/>
          <p:nvPr/>
        </p:nvSpPr>
        <p:spPr>
          <a:xfrm>
            <a:off x="762000" y="6477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 Live Integrated Connectors</a:t>
            </a:r>
            <a:endParaRPr b="0" sz="185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Enterprise-grade collection architecture leveraging fully compliant &amp; permitted APIs.</a:t>
            </a:r>
            <a:endParaRPr b="0" sz="1018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4" name="Google Shape;224;p19"/>
          <p:cNvGrpSpPr/>
          <p:nvPr/>
        </p:nvGrpSpPr>
        <p:grpSpPr>
          <a:xfrm>
            <a:off x="762000" y="1285875"/>
            <a:ext cx="7620075" cy="2209950"/>
            <a:chOff x="0" y="0"/>
            <a:chExt cx="7620075" cy="2209950"/>
          </a:xfrm>
        </p:grpSpPr>
        <p:grpSp>
          <p:nvGrpSpPr>
            <p:cNvPr id="225" name="Google Shape;225;p19"/>
            <p:cNvGrpSpPr/>
            <p:nvPr/>
          </p:nvGrpSpPr>
          <p:grpSpPr>
            <a:xfrm>
              <a:off x="0" y="0"/>
              <a:ext cx="3667200" cy="1047900"/>
              <a:chOff x="0" y="0"/>
              <a:chExt cx="3667200" cy="1047900"/>
            </a:xfrm>
          </p:grpSpPr>
          <p:sp>
            <p:nvSpPr>
              <p:cNvPr id="226" name="Google Shape;226;p19"/>
              <p:cNvSpPr/>
              <p:nvPr/>
            </p:nvSpPr>
            <p:spPr>
              <a:xfrm>
                <a:off x="0" y="0"/>
                <a:ext cx="3667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9"/>
              <p:cNvSpPr txBox="1"/>
              <p:nvPr/>
            </p:nvSpPr>
            <p:spPr>
              <a:xfrm>
                <a:off x="171450" y="133350"/>
                <a:ext cx="33243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Jobs Connector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0284C7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Arbeitnow Open API (free, permitted)</a:t>
                </a:r>
                <a:endParaRPr b="0" sz="850">
                  <a:solidFill>
                    <a:srgbClr val="0284C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Live remote tech job openings extracted continuously for tech industry workforce analysis.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8" name="Google Shape;228;p19"/>
            <p:cNvGrpSpPr/>
            <p:nvPr/>
          </p:nvGrpSpPr>
          <p:grpSpPr>
            <a:xfrm>
              <a:off x="3952875" y="0"/>
              <a:ext cx="3667200" cy="1047900"/>
              <a:chOff x="0" y="0"/>
              <a:chExt cx="3667200" cy="1047900"/>
            </a:xfrm>
          </p:grpSpPr>
          <p:sp>
            <p:nvSpPr>
              <p:cNvPr id="229" name="Google Shape;229;p19"/>
              <p:cNvSpPr/>
              <p:nvPr/>
            </p:nvSpPr>
            <p:spPr>
              <a:xfrm>
                <a:off x="0" y="0"/>
                <a:ext cx="3667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9"/>
              <p:cNvSpPr txBox="1"/>
              <p:nvPr/>
            </p:nvSpPr>
            <p:spPr>
              <a:xfrm>
                <a:off x="171450" y="133350"/>
                <a:ext cx="33243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Market Connector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0284C7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CoinGecko API (free, permitted)</a:t>
                </a:r>
                <a:endParaRPr b="0" sz="850">
                  <a:solidFill>
                    <a:srgbClr val="0284C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Real-time financial &amp; crypto market intelligence feed with sub-minute metric updates.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1" name="Google Shape;231;p19"/>
            <p:cNvGrpSpPr/>
            <p:nvPr/>
          </p:nvGrpSpPr>
          <p:grpSpPr>
            <a:xfrm>
              <a:off x="0" y="1162050"/>
              <a:ext cx="3667200" cy="1047900"/>
              <a:chOff x="0" y="0"/>
              <a:chExt cx="3667200" cy="1047900"/>
            </a:xfrm>
          </p:grpSpPr>
          <p:sp>
            <p:nvSpPr>
              <p:cNvPr id="232" name="Google Shape;232;p19"/>
              <p:cNvSpPr/>
              <p:nvPr/>
            </p:nvSpPr>
            <p:spPr>
              <a:xfrm>
                <a:off x="0" y="0"/>
                <a:ext cx="3667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9"/>
              <p:cNvSpPr txBox="1"/>
              <p:nvPr/>
            </p:nvSpPr>
            <p:spPr>
              <a:xfrm>
                <a:off x="171450" y="133350"/>
                <a:ext cx="33243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Leads Connector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0284C7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Hacker News Public API</a:t>
                </a:r>
                <a:endParaRPr b="0" sz="850">
                  <a:solidFill>
                    <a:srgbClr val="0284C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Startup hiring leads &amp; sponsor opportunities mined from public community discussions.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4" name="Google Shape;234;p19"/>
            <p:cNvGrpSpPr/>
            <p:nvPr/>
          </p:nvGrpSpPr>
          <p:grpSpPr>
            <a:xfrm>
              <a:off x="3952875" y="1162050"/>
              <a:ext cx="3667200" cy="1047900"/>
              <a:chOff x="0" y="0"/>
              <a:chExt cx="3667200" cy="1047900"/>
            </a:xfrm>
          </p:grpSpPr>
          <p:sp>
            <p:nvSpPr>
              <p:cNvPr id="235" name="Google Shape;235;p19"/>
              <p:cNvSpPr/>
              <p:nvPr/>
            </p:nvSpPr>
            <p:spPr>
              <a:xfrm>
                <a:off x="0" y="0"/>
                <a:ext cx="3667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9"/>
              <p:cNvSpPr txBox="1"/>
              <p:nvPr/>
            </p:nvSpPr>
            <p:spPr>
              <a:xfrm>
                <a:off x="171450" y="133350"/>
                <a:ext cx="33243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Demo Connector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0284C7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Faker (synthetic)</a:t>
                </a:r>
                <a:endParaRPr b="0" sz="850">
                  <a:solidFill>
                    <a:srgbClr val="0284C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Deterministic demo datasets designed for pipeline validation and offline scenario testing.</a:t>
                </a:r>
                <a:endParaRPr b="0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37" name="Google Shape;237;p19"/>
          <p:cNvGrpSpPr/>
          <p:nvPr/>
        </p:nvGrpSpPr>
        <p:grpSpPr>
          <a:xfrm>
            <a:off x="762000" y="3667125"/>
            <a:ext cx="7620000" cy="904800"/>
            <a:chOff x="0" y="0"/>
            <a:chExt cx="7620000" cy="904800"/>
          </a:xfrm>
        </p:grpSpPr>
        <p:sp>
          <p:nvSpPr>
            <p:cNvPr id="238" name="Google Shape;238;p19"/>
            <p:cNvSpPr/>
            <p:nvPr/>
          </p:nvSpPr>
          <p:spPr>
            <a:xfrm>
              <a:off x="0" y="0"/>
              <a:ext cx="7620000" cy="904800"/>
            </a:xfrm>
            <a:prstGeom prst="roundRect">
              <a:avLst>
                <a:gd fmla="val 10526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 txBox="1"/>
            <p:nvPr/>
          </p:nvSpPr>
          <p:spPr>
            <a:xfrm>
              <a:off x="228600" y="133350"/>
              <a:ext cx="71628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ETHICAL DATA INGESTION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100% Publicly Permitted API Endpoints</a:t>
              </a:r>
              <a:endParaRPr b="0" sz="11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All sources strictly use official public APIs — eliminating brittle web scraping and fully guaranteeing zero ToS violations.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/>
          <p:cNvPicPr preferRelativeResize="0"/>
          <p:nvPr/>
        </p:nvPicPr>
        <p:blipFill rotWithShape="1">
          <a:blip r:embed="rId3">
            <a:alphaModFix/>
          </a:blip>
          <a:srcRect b="10" l="0" r="0" t="110"/>
          <a:stretch/>
        </p:blipFill>
        <p:spPr>
          <a:xfrm>
            <a:off x="-2505075" y="-2505075"/>
            <a:ext cx="7867800" cy="76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/>
          <p:cNvPicPr preferRelativeResize="0"/>
          <p:nvPr/>
        </p:nvPicPr>
        <p:blipFill rotWithShape="1">
          <a:blip r:embed="rId4">
            <a:alphaModFix/>
          </a:blip>
          <a:srcRect b="20" l="0" r="0" t="90"/>
          <a:stretch/>
        </p:blipFill>
        <p:spPr>
          <a:xfrm>
            <a:off x="4248150" y="438150"/>
            <a:ext cx="4886400" cy="469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0"/>
          <p:cNvGrpSpPr/>
          <p:nvPr/>
        </p:nvGrpSpPr>
        <p:grpSpPr>
          <a:xfrm>
            <a:off x="762000" y="304800"/>
            <a:ext cx="1333500" cy="247800"/>
            <a:chOff x="0" y="0"/>
            <a:chExt cx="1333500" cy="2478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13335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133350" y="28575"/>
              <a:ext cx="1066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KEY FEATURES</a:t>
              </a:r>
              <a:endParaRPr b="0" sz="10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762000" y="6096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Comprehensive Platform Capabilities</a:t>
            </a:r>
            <a:endParaRPr b="0" sz="185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End-to-end intelligence platform built for precision, traceability, and scale.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0" name="Google Shape;250;p20"/>
          <p:cNvGrpSpPr/>
          <p:nvPr/>
        </p:nvGrpSpPr>
        <p:grpSpPr>
          <a:xfrm>
            <a:off x="762000" y="1143000"/>
            <a:ext cx="7619925" cy="3476700"/>
            <a:chOff x="0" y="0"/>
            <a:chExt cx="7619925" cy="3476700"/>
          </a:xfrm>
        </p:grpSpPr>
        <p:grpSp>
          <p:nvGrpSpPr>
            <p:cNvPr id="251" name="Google Shape;251;p20"/>
            <p:cNvGrpSpPr/>
            <p:nvPr/>
          </p:nvGrpSpPr>
          <p:grpSpPr>
            <a:xfrm>
              <a:off x="0" y="0"/>
              <a:ext cx="2428800" cy="1619100"/>
              <a:chOff x="0" y="0"/>
              <a:chExt cx="2428800" cy="1619100"/>
            </a:xfrm>
          </p:grpSpPr>
          <p:sp>
            <p:nvSpPr>
              <p:cNvPr id="252" name="Google Shape;252;p20"/>
              <p:cNvSpPr/>
              <p:nvPr/>
            </p:nvSpPr>
            <p:spPr>
              <a:xfrm>
                <a:off x="0" y="0"/>
                <a:ext cx="2428800" cy="1619100"/>
              </a:xfrm>
              <a:prstGeom prst="roundRect">
                <a:avLst>
                  <a:gd fmla="val 4705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0"/>
              <p:cNvSpPr txBox="1"/>
              <p:nvPr/>
            </p:nvSpPr>
            <p:spPr>
              <a:xfrm>
                <a:off x="133350" y="114300"/>
                <a:ext cx="2162100" cy="13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</a:t>
                </a:r>
                <a:endParaRPr b="1" sz="9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AI-Powered Engine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NL prompt → instant workflow design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Parser with entity &amp; domain extraction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Supports OpenAI, Gemini &amp; Rule-based modes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4" name="Google Shape;254;p20"/>
            <p:cNvGrpSpPr/>
            <p:nvPr/>
          </p:nvGrpSpPr>
          <p:grpSpPr>
            <a:xfrm>
              <a:off x="2595563" y="0"/>
              <a:ext cx="2428800" cy="1619100"/>
              <a:chOff x="0" y="0"/>
              <a:chExt cx="2428800" cy="1619100"/>
            </a:xfrm>
          </p:grpSpPr>
          <p:sp>
            <p:nvSpPr>
              <p:cNvPr id="255" name="Google Shape;255;p20"/>
              <p:cNvSpPr/>
              <p:nvPr/>
            </p:nvSpPr>
            <p:spPr>
              <a:xfrm>
                <a:off x="0" y="0"/>
                <a:ext cx="2428800" cy="1619100"/>
              </a:xfrm>
              <a:prstGeom prst="roundRect">
                <a:avLst>
                  <a:gd fmla="val 4705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0"/>
              <p:cNvSpPr txBox="1"/>
              <p:nvPr/>
            </p:nvSpPr>
            <p:spPr>
              <a:xfrm>
                <a:off x="133350" y="114300"/>
                <a:ext cx="2162100" cy="13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02</a:t>
                </a:r>
                <a:endParaRPr b="1" sz="9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Dynamic Workflows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Preview AI pipelines before launch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Step-by-step execution audit logs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Real-time monitoring, re-run &amp; delete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7" name="Google Shape;257;p20"/>
            <p:cNvGrpSpPr/>
            <p:nvPr/>
          </p:nvGrpSpPr>
          <p:grpSpPr>
            <a:xfrm>
              <a:off x="5191125" y="0"/>
              <a:ext cx="2428800" cy="1619100"/>
              <a:chOff x="0" y="0"/>
              <a:chExt cx="2428800" cy="1619100"/>
            </a:xfrm>
          </p:grpSpPr>
          <p:sp>
            <p:nvSpPr>
              <p:cNvPr id="258" name="Google Shape;258;p20"/>
              <p:cNvSpPr/>
              <p:nvPr/>
            </p:nvSpPr>
            <p:spPr>
              <a:xfrm>
                <a:off x="0" y="0"/>
                <a:ext cx="2428800" cy="1619100"/>
              </a:xfrm>
              <a:prstGeom prst="roundRect">
                <a:avLst>
                  <a:gd fmla="val 4705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0"/>
              <p:cNvSpPr txBox="1"/>
              <p:nvPr/>
            </p:nvSpPr>
            <p:spPr>
              <a:xfrm>
                <a:off x="133350" y="114300"/>
                <a:ext cx="2162100" cy="13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03</a:t>
                </a:r>
                <a:endParaRPr b="1" sz="9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Data Quality Engine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Type inference &amp; median null filling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Full-hash duplicate row pruning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Schema validation &amp; 0–100 quality score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0" name="Google Shape;260;p20"/>
            <p:cNvGrpSpPr/>
            <p:nvPr/>
          </p:nvGrpSpPr>
          <p:grpSpPr>
            <a:xfrm>
              <a:off x="0" y="1714500"/>
              <a:ext cx="2428800" cy="1762200"/>
              <a:chOff x="0" y="0"/>
              <a:chExt cx="2428800" cy="1762200"/>
            </a:xfrm>
          </p:grpSpPr>
          <p:sp>
            <p:nvSpPr>
              <p:cNvPr id="261" name="Google Shape;261;p20"/>
              <p:cNvSpPr/>
              <p:nvPr/>
            </p:nvSpPr>
            <p:spPr>
              <a:xfrm>
                <a:off x="0" y="0"/>
                <a:ext cx="24288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0"/>
              <p:cNvSpPr txBox="1"/>
              <p:nvPr/>
            </p:nvSpPr>
            <p:spPr>
              <a:xfrm>
                <a:off x="133350" y="114300"/>
                <a:ext cx="2162100" cy="15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04</a:t>
                </a:r>
                <a:endParaRPr b="1" sz="9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Source Traceability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Every single row carries metadata lineage: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38BDF8"/>
                    </a:solidFill>
                    <a:highlight>
                      <a:srgbClr val="0F172A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_source_url</a:t>
                </a: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0" lang="en-GB" sz="800">
                    <a:solidFill>
                      <a:srgbClr val="38BDF8"/>
                    </a:solidFill>
                    <a:highlight>
                      <a:srgbClr val="0F172A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_collected_at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38BDF8"/>
                    </a:solidFill>
                    <a:highlight>
                      <a:srgbClr val="0F172A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_connector</a:t>
                </a: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0" lang="en-GB" sz="800">
                    <a:solidFill>
                      <a:srgbClr val="38BDF8"/>
                    </a:solidFill>
                    <a:highlight>
                      <a:srgbClr val="0F172A"/>
                    </a:highlight>
                    <a:latin typeface="JetBrains Mono"/>
                    <a:ea typeface="JetBrains Mono"/>
                    <a:cs typeface="JetBrains Mono"/>
                    <a:sym typeface="JetBrains Mono"/>
                  </a:rPr>
                  <a:t>_source_domain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Includes dedicated Source Lineage tab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3" name="Google Shape;263;p20"/>
            <p:cNvGrpSpPr/>
            <p:nvPr/>
          </p:nvGrpSpPr>
          <p:grpSpPr>
            <a:xfrm>
              <a:off x="2595563" y="1714500"/>
              <a:ext cx="2428800" cy="1762200"/>
              <a:chOff x="0" y="0"/>
              <a:chExt cx="2428800" cy="1762200"/>
            </a:xfrm>
          </p:grpSpPr>
          <p:sp>
            <p:nvSpPr>
              <p:cNvPr id="264" name="Google Shape;264;p20"/>
              <p:cNvSpPr/>
              <p:nvPr/>
            </p:nvSpPr>
            <p:spPr>
              <a:xfrm>
                <a:off x="0" y="0"/>
                <a:ext cx="24288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0"/>
              <p:cNvSpPr txBox="1"/>
              <p:nvPr/>
            </p:nvSpPr>
            <p:spPr>
              <a:xfrm>
                <a:off x="133350" y="114300"/>
                <a:ext cx="2162100" cy="15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05</a:t>
                </a:r>
                <a:endParaRPr b="1" sz="9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Interactive Dashboard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Live KPI metrics &amp; prompt access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Data grid with sort &amp; substring search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Recharts quality charts &amp; schema tab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Server-side pagination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6" name="Google Shape;266;p20"/>
            <p:cNvGrpSpPr/>
            <p:nvPr/>
          </p:nvGrpSpPr>
          <p:grpSpPr>
            <a:xfrm>
              <a:off x="5191125" y="1714500"/>
              <a:ext cx="2428800" cy="1762200"/>
              <a:chOff x="0" y="0"/>
              <a:chExt cx="2428800" cy="1762200"/>
            </a:xfrm>
          </p:grpSpPr>
          <p:sp>
            <p:nvSpPr>
              <p:cNvPr id="267" name="Google Shape;267;p20"/>
              <p:cNvSpPr/>
              <p:nvPr/>
            </p:nvSpPr>
            <p:spPr>
              <a:xfrm>
                <a:off x="0" y="0"/>
                <a:ext cx="24288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0"/>
              <p:cNvSpPr txBox="1"/>
              <p:nvPr/>
            </p:nvSpPr>
            <p:spPr>
              <a:xfrm>
                <a:off x="133350" y="114300"/>
                <a:ext cx="2162100" cy="15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rgbClr val="0284C7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06</a:t>
                </a:r>
                <a:endParaRPr b="1" sz="900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Multi-Format Export</a:t>
                </a:r>
                <a:endParaRPr b="1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Instant export capabilities for seamless downstream integration: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CSV Export (Flat tables)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94A3B8"/>
                  </a:buClr>
                  <a:buSzPts val="850"/>
                  <a:buFont typeface="Inter"/>
                  <a:buChar char="●"/>
                </a:pPr>
                <a:r>
                  <a:rPr b="0" lang="en-GB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JSON Export (Nested objects)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69" name="Google Shape;269;p20"/>
          <p:cNvSpPr txBox="1"/>
          <p:nvPr/>
        </p:nvSpPr>
        <p:spPr>
          <a:xfrm>
            <a:off x="762000" y="4714875"/>
            <a:ext cx="7620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100% Automated • Full Auditability • Production-Ready Outputs</a:t>
            </a:r>
            <a:endParaRPr b="0" sz="9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21"/>
          <p:cNvGrpSpPr/>
          <p:nvPr/>
        </p:nvGrpSpPr>
        <p:grpSpPr>
          <a:xfrm>
            <a:off x="762000" y="333375"/>
            <a:ext cx="1238400" cy="247800"/>
            <a:chOff x="0" y="0"/>
            <a:chExt cx="1238400" cy="247800"/>
          </a:xfrm>
        </p:grpSpPr>
        <p:sp>
          <p:nvSpPr>
            <p:cNvPr id="275" name="Google Shape;275;p21"/>
            <p:cNvSpPr/>
            <p:nvPr/>
          </p:nvSpPr>
          <p:spPr>
            <a:xfrm>
              <a:off x="0" y="0"/>
              <a:ext cx="12384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1"/>
            <p:cNvSpPr txBox="1"/>
            <p:nvPr/>
          </p:nvSpPr>
          <p:spPr>
            <a:xfrm>
              <a:off x="133350" y="28575"/>
              <a:ext cx="971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TECH STACK</a:t>
              </a:r>
              <a:endParaRPr b="0" sz="10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277" name="Google Shape;277;p21"/>
          <p:cNvSpPr txBox="1"/>
          <p:nvPr/>
        </p:nvSpPr>
        <p:spPr>
          <a:xfrm>
            <a:off x="762000" y="6477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Modern, Lightweight &amp; Scalable Architecture</a:t>
            </a:r>
            <a:endParaRPr b="0" sz="185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Enterprise-grade technology stack powering real-time data ingestion and processing.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8" name="Google Shape;278;p21"/>
          <p:cNvGrpSpPr/>
          <p:nvPr/>
        </p:nvGrpSpPr>
        <p:grpSpPr>
          <a:xfrm>
            <a:off x="762000" y="1285875"/>
            <a:ext cx="7620075" cy="2209950"/>
            <a:chOff x="0" y="0"/>
            <a:chExt cx="7620075" cy="2209950"/>
          </a:xfrm>
        </p:grpSpPr>
        <p:grpSp>
          <p:nvGrpSpPr>
            <p:cNvPr id="279" name="Google Shape;279;p21"/>
            <p:cNvGrpSpPr/>
            <p:nvPr/>
          </p:nvGrpSpPr>
          <p:grpSpPr>
            <a:xfrm>
              <a:off x="0" y="0"/>
              <a:ext cx="3667200" cy="1047900"/>
              <a:chOff x="0" y="0"/>
              <a:chExt cx="3667200" cy="1047900"/>
            </a:xfrm>
          </p:grpSpPr>
          <p:sp>
            <p:nvSpPr>
              <p:cNvPr id="280" name="Google Shape;280;p21"/>
              <p:cNvSpPr/>
              <p:nvPr/>
            </p:nvSpPr>
            <p:spPr>
              <a:xfrm>
                <a:off x="0" y="0"/>
                <a:ext cx="3667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1"/>
              <p:cNvSpPr txBox="1"/>
              <p:nvPr/>
            </p:nvSpPr>
            <p:spPr>
              <a:xfrm>
                <a:off x="171450" y="133350"/>
                <a:ext cx="33243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Backend Architecture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Python 3.12</a:t>
                </a:r>
                <a:r>
                  <a:rPr lang="en-GB"/>
                  <a:t> </a:t>
                </a: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FastAPI</a:t>
                </a:r>
                <a:r>
                  <a:rPr lang="en-GB"/>
                  <a:t> </a:t>
                </a: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Uvicorn</a:t>
                </a:r>
                <a:endParaRPr/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SQLAlchemy 2.0</a:t>
                </a:r>
                <a:r>
                  <a:rPr lang="en-GB"/>
                  <a:t> </a:t>
                </a: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Pydantic</a:t>
                </a:r>
                <a:r>
                  <a:rPr lang="en-GB"/>
                  <a:t> </a:t>
                </a: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Faker</a:t>
                </a:r>
                <a:endParaRPr/>
              </a:p>
            </p:txBody>
          </p:sp>
        </p:grpSp>
        <p:grpSp>
          <p:nvGrpSpPr>
            <p:cNvPr id="282" name="Google Shape;282;p21"/>
            <p:cNvGrpSpPr/>
            <p:nvPr/>
          </p:nvGrpSpPr>
          <p:grpSpPr>
            <a:xfrm>
              <a:off x="3952875" y="0"/>
              <a:ext cx="3667200" cy="1047900"/>
              <a:chOff x="0" y="0"/>
              <a:chExt cx="3667200" cy="1047900"/>
            </a:xfrm>
          </p:grpSpPr>
          <p:sp>
            <p:nvSpPr>
              <p:cNvPr id="283" name="Google Shape;283;p21"/>
              <p:cNvSpPr/>
              <p:nvPr/>
            </p:nvSpPr>
            <p:spPr>
              <a:xfrm>
                <a:off x="0" y="0"/>
                <a:ext cx="3667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1"/>
              <p:cNvSpPr txBox="1"/>
              <p:nvPr/>
            </p:nvSpPr>
            <p:spPr>
              <a:xfrm>
                <a:off x="171450" y="133350"/>
                <a:ext cx="33243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Frontend Framework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React 19</a:t>
                </a:r>
                <a:r>
                  <a:rPr lang="en-GB"/>
                  <a:t> </a:t>
                </a: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TypeScript</a:t>
                </a:r>
                <a:r>
                  <a:rPr lang="en-GB"/>
                  <a:t> </a:t>
                </a: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Vite</a:t>
                </a:r>
                <a:endParaRPr/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Tailwind CSS v4</a:t>
                </a:r>
                <a:r>
                  <a:rPr lang="en-GB"/>
                  <a:t> </a:t>
                </a: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Recharts</a:t>
                </a:r>
                <a:r>
                  <a:rPr lang="en-GB"/>
                  <a:t> </a:t>
                </a: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Axios</a:t>
                </a:r>
                <a:endParaRPr/>
              </a:p>
            </p:txBody>
          </p:sp>
        </p:grpSp>
        <p:grpSp>
          <p:nvGrpSpPr>
            <p:cNvPr id="285" name="Google Shape;285;p21"/>
            <p:cNvGrpSpPr/>
            <p:nvPr/>
          </p:nvGrpSpPr>
          <p:grpSpPr>
            <a:xfrm>
              <a:off x="0" y="1162050"/>
              <a:ext cx="3667200" cy="1047900"/>
              <a:chOff x="0" y="0"/>
              <a:chExt cx="3667200" cy="1047900"/>
            </a:xfrm>
          </p:grpSpPr>
          <p:sp>
            <p:nvSpPr>
              <p:cNvPr id="286" name="Google Shape;286;p21"/>
              <p:cNvSpPr/>
              <p:nvPr/>
            </p:nvSpPr>
            <p:spPr>
              <a:xfrm>
                <a:off x="0" y="0"/>
                <a:ext cx="3667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1"/>
              <p:cNvSpPr txBox="1"/>
              <p:nvPr/>
            </p:nvSpPr>
            <p:spPr>
              <a:xfrm>
                <a:off x="171450" y="133350"/>
                <a:ext cx="33243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AI &amp; NLP Processing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OpenAI / Gemini API</a:t>
                </a:r>
                <a:endParaRPr/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Custom Requirement Parser</a:t>
                </a:r>
                <a:r>
                  <a:rPr lang="en-GB"/>
                  <a:t> </a:t>
                </a: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Rule Fallback</a:t>
                </a:r>
                <a:endParaRPr/>
              </a:p>
            </p:txBody>
          </p:sp>
        </p:grpSp>
        <p:grpSp>
          <p:nvGrpSpPr>
            <p:cNvPr id="288" name="Google Shape;288;p21"/>
            <p:cNvGrpSpPr/>
            <p:nvPr/>
          </p:nvGrpSpPr>
          <p:grpSpPr>
            <a:xfrm>
              <a:off x="3952875" y="1162050"/>
              <a:ext cx="3667200" cy="1047900"/>
              <a:chOff x="0" y="0"/>
              <a:chExt cx="3667200" cy="1047900"/>
            </a:xfrm>
          </p:grpSpPr>
          <p:sp>
            <p:nvSpPr>
              <p:cNvPr id="289" name="Google Shape;289;p21"/>
              <p:cNvSpPr/>
              <p:nvPr/>
            </p:nvSpPr>
            <p:spPr>
              <a:xfrm>
                <a:off x="0" y="0"/>
                <a:ext cx="3667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1"/>
              <p:cNvSpPr txBox="1"/>
              <p:nvPr/>
            </p:nvSpPr>
            <p:spPr>
              <a:xfrm>
                <a:off x="171450" y="133350"/>
                <a:ext cx="33243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Storage Infrastructure</a:t>
                </a:r>
                <a:endParaRPr b="1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Persistent SQLite (datapilot.db)</a:t>
                </a:r>
                <a:endParaRPr/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E2E8F0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MongoDB-Ready Architecture</a:t>
                </a:r>
                <a:endParaRPr/>
              </a:p>
            </p:txBody>
          </p:sp>
        </p:grpSp>
      </p:grpSp>
      <p:grpSp>
        <p:nvGrpSpPr>
          <p:cNvPr id="291" name="Google Shape;291;p21"/>
          <p:cNvGrpSpPr/>
          <p:nvPr/>
        </p:nvGrpSpPr>
        <p:grpSpPr>
          <a:xfrm>
            <a:off x="762000" y="3667125"/>
            <a:ext cx="7620000" cy="904800"/>
            <a:chOff x="0" y="0"/>
            <a:chExt cx="7620000" cy="904800"/>
          </a:xfrm>
        </p:grpSpPr>
        <p:sp>
          <p:nvSpPr>
            <p:cNvPr id="292" name="Google Shape;292;p21"/>
            <p:cNvSpPr/>
            <p:nvPr/>
          </p:nvSpPr>
          <p:spPr>
            <a:xfrm>
              <a:off x="0" y="0"/>
              <a:ext cx="7620000" cy="904800"/>
            </a:xfrm>
            <a:prstGeom prst="roundRect">
              <a:avLst>
                <a:gd fmla="val 10526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 txBox="1"/>
            <p:nvPr/>
          </p:nvSpPr>
          <p:spPr>
            <a:xfrm>
              <a:off x="228600" y="133350"/>
              <a:ext cx="71628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HIGH PERFORMANCE &amp; EXTENSIBILITY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Built for Speed, Reliability, and Easy Integration</a:t>
              </a:r>
              <a:endParaRPr b="0" sz="11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Fully typed async backend coupled with lightweight reactive UI and plug-and-play storage layers.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2"/>
          <p:cNvGrpSpPr/>
          <p:nvPr/>
        </p:nvGrpSpPr>
        <p:grpSpPr>
          <a:xfrm>
            <a:off x="762000" y="333375"/>
            <a:ext cx="1714500" cy="247800"/>
            <a:chOff x="0" y="0"/>
            <a:chExt cx="1714500" cy="247800"/>
          </a:xfrm>
        </p:grpSpPr>
        <p:sp>
          <p:nvSpPr>
            <p:cNvPr id="299" name="Google Shape;299;p22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133350" y="28575"/>
              <a:ext cx="1447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SYSTEM ARCHITECTURE</a:t>
              </a:r>
              <a:endParaRPr b="0" sz="85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301" name="Google Shape;301;p22"/>
          <p:cNvSpPr txBox="1"/>
          <p:nvPr/>
        </p:nvSpPr>
        <p:spPr>
          <a:xfrm>
            <a:off x="762000" y="6477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End-to-End Modular Code Structure</a:t>
            </a:r>
            <a:endParaRPr b="0" sz="185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Decoupled FastAPI async backend paired with a type-safe React 19 frontend.</a:t>
            </a:r>
            <a:endParaRPr b="0" sz="8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2" name="Google Shape;302;p22"/>
          <p:cNvGrpSpPr/>
          <p:nvPr/>
        </p:nvGrpSpPr>
        <p:grpSpPr>
          <a:xfrm>
            <a:off x="762000" y="1238250"/>
            <a:ext cx="3667200" cy="2238300"/>
            <a:chOff x="0" y="0"/>
            <a:chExt cx="3667200" cy="2238300"/>
          </a:xfrm>
        </p:grpSpPr>
        <p:sp>
          <p:nvSpPr>
            <p:cNvPr id="303" name="Google Shape;303;p22"/>
            <p:cNvSpPr/>
            <p:nvPr/>
          </p:nvSpPr>
          <p:spPr>
            <a:xfrm>
              <a:off x="0" y="0"/>
              <a:ext cx="3667200" cy="2238300"/>
            </a:xfrm>
            <a:prstGeom prst="roundRect">
              <a:avLst>
                <a:gd fmla="val 3404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171450" y="133350"/>
              <a:ext cx="3324300" cy="19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Backend Architecture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0284C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FastAPI (Python 3.12) • Port 8000</a:t>
              </a:r>
              <a:endParaRPr b="0" sz="850">
                <a:solidFill>
                  <a:srgbClr val="0284C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main.py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Uvicorn entry point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core/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Config (Pydantic) + DB Engine (SQLAlchemy 2.0)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models/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Workflow &amp; Dataset ORMs (Provenance)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api/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Health, Workflows, Datasets, Connectors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services/requirement_parser.py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AI/NLP Intent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services/pipeline.py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Orchestrator (Collect→Persist)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services/connectors/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Base ABC, Registry, 4 Live APIs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4714875" y="1238250"/>
            <a:ext cx="3667200" cy="2238300"/>
            <a:chOff x="0" y="0"/>
            <a:chExt cx="3667200" cy="2238300"/>
          </a:xfrm>
        </p:grpSpPr>
        <p:sp>
          <p:nvSpPr>
            <p:cNvPr id="306" name="Google Shape;306;p22"/>
            <p:cNvSpPr/>
            <p:nvPr/>
          </p:nvSpPr>
          <p:spPr>
            <a:xfrm>
              <a:off x="0" y="0"/>
              <a:ext cx="3667200" cy="2238300"/>
            </a:xfrm>
            <a:prstGeom prst="roundRect">
              <a:avLst>
                <a:gd fmla="val 3404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171450" y="133350"/>
              <a:ext cx="3324300" cy="19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Frontend Framework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0284C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React 19 • TypeScript • Vite</a:t>
              </a:r>
              <a:endParaRPr b="0" sz="850">
                <a:solidFill>
                  <a:srgbClr val="0284C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api.ts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Typed Axios client layer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App.tsx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React Router v7 routes &amp; layout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E2E8F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Application Pages (pages/):</a:t>
              </a:r>
              <a:endParaRPr b="0" sz="800">
                <a:solidFill>
                  <a:srgbClr val="E2E8F0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</a:t>
              </a: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Dashboard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Real-time metrics &amp; execution status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</a:t>
              </a: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NewTask &amp; Workflows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Prompt input &amp; pipeline logs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</a:t>
              </a: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Datasets &amp; DatasetDetail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Data grid &amp; lineage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</a:t>
              </a:r>
              <a:r>
                <a:rPr b="0" lang="en-GB" sz="800">
                  <a:solidFill>
                    <a:srgbClr val="38BDF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DataQuality, Sources, Settings</a:t>
              </a:r>
              <a:r>
                <a:rPr lang="en-GB" sz="8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— Analytics &amp; config</a:t>
              </a:r>
              <a:endParaRPr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08" name="Google Shape;308;p22"/>
          <p:cNvGrpSpPr/>
          <p:nvPr/>
        </p:nvGrpSpPr>
        <p:grpSpPr>
          <a:xfrm>
            <a:off x="762000" y="3667125"/>
            <a:ext cx="7620000" cy="904800"/>
            <a:chOff x="0" y="0"/>
            <a:chExt cx="7620000" cy="904800"/>
          </a:xfrm>
        </p:grpSpPr>
        <p:sp>
          <p:nvSpPr>
            <p:cNvPr id="309" name="Google Shape;309;p22"/>
            <p:cNvSpPr/>
            <p:nvPr/>
          </p:nvSpPr>
          <p:spPr>
            <a:xfrm>
              <a:off x="0" y="0"/>
              <a:ext cx="7620000" cy="904800"/>
            </a:xfrm>
            <a:prstGeom prst="roundRect">
              <a:avLst>
                <a:gd fmla="val 10526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228600" y="133350"/>
              <a:ext cx="71628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CLEAN ARCHITECTURE &amp; SEPARATION OF CONCERNS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978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RESTful Communication &amp; Modular Extensibility</a:t>
              </a:r>
              <a:endParaRPr b="0" sz="978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Fully decoupled client-server model enabling independent scaling, pluggable data connectors, and strict type safety across the entire stack.</a:t>
              </a:r>
              <a:endParaRPr b="0" sz="80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23"/>
          <p:cNvGrpSpPr/>
          <p:nvPr/>
        </p:nvGrpSpPr>
        <p:grpSpPr>
          <a:xfrm>
            <a:off x="762000" y="285750"/>
            <a:ext cx="1143000" cy="247800"/>
            <a:chOff x="0" y="0"/>
            <a:chExt cx="1143000" cy="247800"/>
          </a:xfrm>
        </p:grpSpPr>
        <p:sp>
          <p:nvSpPr>
            <p:cNvPr id="316" name="Google Shape;316;p23"/>
            <p:cNvSpPr/>
            <p:nvPr/>
          </p:nvSpPr>
          <p:spPr>
            <a:xfrm>
              <a:off x="0" y="0"/>
              <a:ext cx="11430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3"/>
            <p:cNvSpPr txBox="1"/>
            <p:nvPr/>
          </p:nvSpPr>
          <p:spPr>
            <a:xfrm>
              <a:off x="114300" y="28575"/>
              <a:ext cx="914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LIVE DEMO</a:t>
              </a:r>
              <a:endParaRPr/>
            </a:p>
          </p:txBody>
        </p:sp>
      </p:grpSp>
      <p:sp>
        <p:nvSpPr>
          <p:cNvPr id="318" name="Google Shape;318;p23"/>
          <p:cNvSpPr txBox="1"/>
          <p:nvPr/>
        </p:nvSpPr>
        <p:spPr>
          <a:xfrm>
            <a:off x="762000" y="59055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Interactive Platform Walkthrough</a:t>
            </a:r>
            <a:endParaRPr b="0" sz="185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Execute real-time data collection pipelines using custom natural language prompts or pre-built connectors.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19" name="Google Shape;319;p23"/>
          <p:cNvGrpSpPr/>
          <p:nvPr/>
        </p:nvGrpSpPr>
        <p:grpSpPr>
          <a:xfrm>
            <a:off x="762000" y="1143000"/>
            <a:ext cx="3667200" cy="2333700"/>
            <a:chOff x="0" y="0"/>
            <a:chExt cx="3667200" cy="2333700"/>
          </a:xfrm>
        </p:grpSpPr>
        <p:sp>
          <p:nvSpPr>
            <p:cNvPr id="320" name="Google Shape;320;p23"/>
            <p:cNvSpPr/>
            <p:nvPr/>
          </p:nvSpPr>
          <p:spPr>
            <a:xfrm>
              <a:off x="0" y="0"/>
              <a:ext cx="36672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152400" y="114300"/>
              <a:ext cx="3362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18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Example Prompts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86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01. Jobs: </a:t>
              </a:r>
              <a:r>
                <a:rPr b="1" lang="en-GB" sz="879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"Collect recent remote AI and Python engineering jobs..."</a:t>
              </a:r>
              <a:endParaRPr b="1" sz="879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Includes salary ranges and required tech skills.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86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02. Market: </a:t>
              </a:r>
              <a:r>
                <a:rPr b="1" lang="en-GB" sz="879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"Aggregate market cap, volume, and 24h price trends..."</a:t>
              </a:r>
              <a:endParaRPr b="1" sz="879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Real-time stats for top digital assets.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86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03. Leads: </a:t>
              </a:r>
              <a:r>
                <a:rPr b="1" lang="en-GB" sz="879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"Extract startup hiring leads and sponsorship opportunities..."</a:t>
              </a:r>
              <a:endParaRPr b="1" sz="879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Mined directly from tech founders.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86">
                  <a:solidFill>
                    <a:srgbClr val="0284C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04. Demo: </a:t>
              </a:r>
              <a:r>
                <a:rPr b="1" lang="en-GB" sz="879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"Clean sales order transactions, fill missing emails..."</a:t>
              </a:r>
              <a:endParaRPr b="1" sz="879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Automatic deduplication &amp; null filling.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2" name="Google Shape;322;p23"/>
          <p:cNvGrpSpPr/>
          <p:nvPr/>
        </p:nvGrpSpPr>
        <p:grpSpPr>
          <a:xfrm>
            <a:off x="4714875" y="1143000"/>
            <a:ext cx="3667200" cy="2333700"/>
            <a:chOff x="0" y="0"/>
            <a:chExt cx="3667200" cy="2333700"/>
          </a:xfrm>
        </p:grpSpPr>
        <p:sp>
          <p:nvSpPr>
            <p:cNvPr id="323" name="Google Shape;323;p23"/>
            <p:cNvSpPr/>
            <p:nvPr/>
          </p:nvSpPr>
          <p:spPr>
            <a:xfrm>
              <a:off x="0" y="0"/>
              <a:ext cx="36672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152400" y="114300"/>
              <a:ext cx="3362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18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Step-by-Step Workflow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8527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786"/>
                <a:buFont typeface="Inter"/>
                <a:buAutoNum type="arabicPeriod"/>
              </a:pPr>
              <a:r>
                <a:rPr b="1" lang="en-GB" sz="8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1. Launch: </a:t>
              </a: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Open </a:t>
              </a:r>
              <a:r>
                <a:rPr b="0" lang="en-GB" sz="786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http://localhost:5173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8527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94A3B8"/>
                </a:buClr>
                <a:buSzPts val="786"/>
                <a:buFont typeface="Inter"/>
                <a:buAutoNum type="arabicPeriod"/>
              </a:pPr>
              <a:r>
                <a:rPr b="1" lang="en-GB" sz="8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2. Prompt: </a:t>
              </a: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Click </a:t>
              </a:r>
              <a:r>
                <a:rPr b="0" lang="en-GB" sz="786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New Data Task</a:t>
              </a: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→ enter or select prompt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8527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94A3B8"/>
                </a:buClr>
                <a:buSzPts val="786"/>
                <a:buFont typeface="Inter"/>
                <a:buAutoNum type="arabicPeriod"/>
              </a:pPr>
              <a:r>
                <a:rPr b="1" lang="en-GB" sz="8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3. Preview: </a:t>
              </a: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Inspect multi-stage AI execution plan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8527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94A3B8"/>
                </a:buClr>
                <a:buSzPts val="786"/>
                <a:buFont typeface="Inter"/>
                <a:buAutoNum type="arabicPeriod"/>
              </a:pPr>
              <a:r>
                <a:rPr b="1" lang="en-GB" sz="8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4. Execute: </a:t>
              </a: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Watch real-time collect, clean &amp; validate pipeline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8527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94A3B8"/>
                </a:buClr>
                <a:buSzPts val="786"/>
                <a:buFont typeface="Inter"/>
                <a:buAutoNum type="arabicPeriod"/>
              </a:pPr>
              <a:r>
                <a:rPr b="1" lang="en-GB" sz="8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5. Audit: </a:t>
              </a: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Check Workflows tab for step-by-step logs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8527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94A3B8"/>
                </a:buClr>
                <a:buSzPts val="786"/>
                <a:buFont typeface="Inter"/>
                <a:buAutoNum type="arabicPeriod"/>
              </a:pPr>
              <a:r>
                <a:rPr b="1" lang="en-GB" sz="8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6. Explore: </a:t>
              </a: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Open Datasets → Interactive Explorer &amp; Lineage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8527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94A3B8"/>
                </a:buClr>
                <a:buSzPts val="786"/>
                <a:buFont typeface="Inter"/>
                <a:buAutoNum type="arabicPeriod"/>
              </a:pPr>
              <a:r>
                <a:rPr b="1" lang="en-GB" sz="8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7. Analyze: </a:t>
              </a: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Search, sort &amp; switch views (Data/Quality/Lineage)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8527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94A3B8"/>
                </a:buClr>
                <a:buSzPts val="786"/>
                <a:buFont typeface="Inter"/>
                <a:buAutoNum type="arabicPeriod"/>
              </a:pPr>
              <a:r>
                <a:rPr b="1" lang="en-GB" sz="8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8. Export: </a:t>
              </a:r>
              <a:r>
                <a:rPr b="0" lang="en-GB" sz="78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Download structured outputs as CSV or JSON</a:t>
              </a:r>
              <a:endParaRPr b="0" sz="786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5" name="Google Shape;325;p23"/>
          <p:cNvGrpSpPr/>
          <p:nvPr/>
        </p:nvGrpSpPr>
        <p:grpSpPr>
          <a:xfrm>
            <a:off x="762000" y="3619500"/>
            <a:ext cx="7620000" cy="904800"/>
            <a:chOff x="0" y="0"/>
            <a:chExt cx="7620000" cy="904800"/>
          </a:xfrm>
        </p:grpSpPr>
        <p:sp>
          <p:nvSpPr>
            <p:cNvPr id="326" name="Google Shape;326;p23"/>
            <p:cNvSpPr/>
            <p:nvPr/>
          </p:nvSpPr>
          <p:spPr>
            <a:xfrm>
              <a:off x="0" y="0"/>
              <a:ext cx="7620000" cy="904800"/>
            </a:xfrm>
            <a:prstGeom prst="roundRect">
              <a:avLst>
                <a:gd fmla="val 10526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3"/>
            <p:cNvSpPr txBox="1"/>
            <p:nvPr/>
          </p:nvSpPr>
          <p:spPr>
            <a:xfrm>
              <a:off x="190500" y="133350"/>
              <a:ext cx="72390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ZERO-CONFIG END-TO-END EXECUTION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1018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From Prompt to Verified Dataset in Seconds</a:t>
              </a:r>
              <a:endParaRPr b="0" sz="1018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Seamless local web app experience bridging natural language intent directly into resilient, fully auditable data pipelines.</a:t>
              </a:r>
              <a:endParaRPr b="0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24"/>
          <p:cNvGrpSpPr/>
          <p:nvPr/>
        </p:nvGrpSpPr>
        <p:grpSpPr>
          <a:xfrm>
            <a:off x="762000" y="285750"/>
            <a:ext cx="1238400" cy="247800"/>
            <a:chOff x="0" y="0"/>
            <a:chExt cx="1238400" cy="247800"/>
          </a:xfrm>
        </p:grpSpPr>
        <p:sp>
          <p:nvSpPr>
            <p:cNvPr id="333" name="Google Shape;333;p24"/>
            <p:cNvSpPr/>
            <p:nvPr/>
          </p:nvSpPr>
          <p:spPr>
            <a:xfrm>
              <a:off x="0" y="0"/>
              <a:ext cx="12384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4"/>
            <p:cNvSpPr txBox="1"/>
            <p:nvPr/>
          </p:nvSpPr>
          <p:spPr>
            <a:xfrm>
              <a:off x="133350" y="28575"/>
              <a:ext cx="971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25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API REFERENCE</a:t>
              </a:r>
              <a:endParaRPr b="0" sz="925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335" name="Google Shape;335;p24"/>
          <p:cNvSpPr txBox="1"/>
          <p:nvPr/>
        </p:nvSpPr>
        <p:spPr>
          <a:xfrm>
            <a:off x="762000" y="59055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11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RESTful Endpoints &amp; Integration Interface</a:t>
            </a:r>
            <a:endParaRPr b="0" sz="1711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GB" sz="92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Complete programmatic access to workflows, datasets, data quality, and connectors.</a:t>
            </a:r>
            <a:endParaRPr b="0" sz="925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36" name="Google Shape;336;p24"/>
          <p:cNvGrpSpPr/>
          <p:nvPr/>
        </p:nvGrpSpPr>
        <p:grpSpPr>
          <a:xfrm>
            <a:off x="762000" y="1143000"/>
            <a:ext cx="3667200" cy="2333700"/>
            <a:chOff x="0" y="0"/>
            <a:chExt cx="3667200" cy="2333700"/>
          </a:xfrm>
        </p:grpSpPr>
        <p:sp>
          <p:nvSpPr>
            <p:cNvPr id="337" name="Google Shape;337;p24"/>
            <p:cNvSpPr/>
            <p:nvPr/>
          </p:nvSpPr>
          <p:spPr>
            <a:xfrm>
              <a:off x="0" y="0"/>
              <a:ext cx="36672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4"/>
            <p:cNvSpPr txBox="1"/>
            <p:nvPr/>
          </p:nvSpPr>
          <p:spPr>
            <a:xfrm>
              <a:off x="152400" y="114300"/>
              <a:ext cx="3362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18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Workflows &amp; System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/api/health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System health + engine status</a:t>
              </a:r>
              <a:endParaRPr b="0" sz="7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4D3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POST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/api/workflows/plan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Preview AI-generated pipeline</a:t>
              </a:r>
              <a:endParaRPr b="0" sz="7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4D3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POST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/api/workflows/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Create &amp; run workflow</a:t>
              </a:r>
              <a:endParaRPr b="0" sz="7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/api/workflows/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List all workflows with status</a:t>
              </a:r>
              <a:endParaRPr b="0" sz="7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/api/workflows/{id}/logs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Step-by-step execution trace</a:t>
              </a:r>
              <a:endParaRPr b="0" sz="7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4D3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POST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/api/workflows/{id}/rerun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Re-run a workflow</a:t>
              </a:r>
              <a:endParaRPr b="0" sz="7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9" name="Google Shape;339;p24"/>
          <p:cNvGrpSpPr/>
          <p:nvPr/>
        </p:nvGrpSpPr>
        <p:grpSpPr>
          <a:xfrm>
            <a:off x="4714875" y="1143000"/>
            <a:ext cx="3667200" cy="2333700"/>
            <a:chOff x="0" y="0"/>
            <a:chExt cx="3667200" cy="2333700"/>
          </a:xfrm>
        </p:grpSpPr>
        <p:sp>
          <p:nvSpPr>
            <p:cNvPr id="340" name="Google Shape;340;p24"/>
            <p:cNvSpPr/>
            <p:nvPr/>
          </p:nvSpPr>
          <p:spPr>
            <a:xfrm>
              <a:off x="0" y="0"/>
              <a:ext cx="36672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 txBox="1"/>
            <p:nvPr/>
          </p:nvSpPr>
          <p:spPr>
            <a:xfrm>
              <a:off x="152400" y="114300"/>
              <a:ext cx="3362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18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Datasets, Quality &amp; Connectors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/api/datasets/</a:t>
              </a: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— List with quality scores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/api/datasets/{id}/records</a:t>
              </a: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— Paginated search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/api/datasets/{id}/export</a:t>
              </a: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— Download CSV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/api/datasets/{id}/export/json</a:t>
              </a: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— Download JSON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/api/datasets/{id}/provenance</a:t>
              </a: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— Source lineage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/api/datasets/{id}/quality</a:t>
              </a: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— Quality audit report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/api/quality/overview</a:t>
              </a: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— Quality dashboard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74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 </a:t>
              </a:r>
              <a:r>
                <a:rPr b="0" lang="en-GB" sz="74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/api/connectors/</a:t>
              </a:r>
              <a:r>
                <a:rPr b="0" lang="en-GB" sz="7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— List registered connectors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2" name="Google Shape;342;p24"/>
          <p:cNvGrpSpPr/>
          <p:nvPr/>
        </p:nvGrpSpPr>
        <p:grpSpPr>
          <a:xfrm>
            <a:off x="762000" y="3619500"/>
            <a:ext cx="7620000" cy="904800"/>
            <a:chOff x="0" y="0"/>
            <a:chExt cx="7620000" cy="904800"/>
          </a:xfrm>
        </p:grpSpPr>
        <p:sp>
          <p:nvSpPr>
            <p:cNvPr id="343" name="Google Shape;343;p24"/>
            <p:cNvSpPr/>
            <p:nvPr/>
          </p:nvSpPr>
          <p:spPr>
            <a:xfrm>
              <a:off x="0" y="0"/>
              <a:ext cx="7620000" cy="904800"/>
            </a:xfrm>
            <a:prstGeom prst="roundRect">
              <a:avLst>
                <a:gd fmla="val 10526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4"/>
            <p:cNvSpPr txBox="1"/>
            <p:nvPr/>
          </p:nvSpPr>
          <p:spPr>
            <a:xfrm>
              <a:off x="190500" y="133350"/>
              <a:ext cx="72390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INTERACTIVE DOCUMENTATION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GB" sz="925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Explore Open API Specifications &amp; Live Test Suite</a:t>
              </a:r>
              <a:endParaRPr b="0" sz="925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Interactive Swagger Docs available at: </a:t>
              </a:r>
              <a:r>
                <a:rPr b="0" lang="en-GB" sz="9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http://localhost:8000/api/docs</a:t>
              </a:r>
              <a:endParaRPr b="0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5"/>
          <p:cNvGrpSpPr/>
          <p:nvPr/>
        </p:nvGrpSpPr>
        <p:grpSpPr>
          <a:xfrm>
            <a:off x="762000" y="285750"/>
            <a:ext cx="1238400" cy="247800"/>
            <a:chOff x="0" y="0"/>
            <a:chExt cx="1238400" cy="247800"/>
          </a:xfrm>
        </p:grpSpPr>
        <p:sp>
          <p:nvSpPr>
            <p:cNvPr id="350" name="Google Shape;350;p25"/>
            <p:cNvSpPr/>
            <p:nvPr/>
          </p:nvSpPr>
          <p:spPr>
            <a:xfrm>
              <a:off x="0" y="0"/>
              <a:ext cx="12384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5"/>
            <p:cNvSpPr txBox="1"/>
            <p:nvPr/>
          </p:nvSpPr>
          <p:spPr>
            <a:xfrm>
              <a:off x="133350" y="28575"/>
              <a:ext cx="971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25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QUICK SETUP</a:t>
              </a:r>
              <a:endParaRPr b="0" sz="925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352" name="Google Shape;352;p25"/>
          <p:cNvSpPr txBox="1"/>
          <p:nvPr/>
        </p:nvSpPr>
        <p:spPr>
          <a:xfrm>
            <a:off x="762000" y="59055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Local Development &amp; Installation</a:t>
            </a:r>
            <a:endParaRPr b="0" sz="185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GB" sz="92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Get the complete data pilot engine up and running in a few simple steps.</a:t>
            </a:r>
            <a:endParaRPr b="0" sz="925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53" name="Google Shape;353;p25"/>
          <p:cNvGrpSpPr/>
          <p:nvPr/>
        </p:nvGrpSpPr>
        <p:grpSpPr>
          <a:xfrm>
            <a:off x="762000" y="1143000"/>
            <a:ext cx="3667200" cy="2333700"/>
            <a:chOff x="0" y="0"/>
            <a:chExt cx="3667200" cy="2333700"/>
          </a:xfrm>
        </p:grpSpPr>
        <p:sp>
          <p:nvSpPr>
            <p:cNvPr id="354" name="Google Shape;354;p25"/>
            <p:cNvSpPr/>
            <p:nvPr/>
          </p:nvSpPr>
          <p:spPr>
            <a:xfrm>
              <a:off x="0" y="0"/>
              <a:ext cx="36672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5"/>
            <p:cNvSpPr txBox="1"/>
            <p:nvPr/>
          </p:nvSpPr>
          <p:spPr>
            <a:xfrm>
              <a:off x="152400" y="114300"/>
              <a:ext cx="3362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Backend Setup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0284C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Python 3.12+ • FastAPI • Uvicorn</a:t>
              </a:r>
              <a:endParaRPr b="0" sz="850">
                <a:solidFill>
                  <a:srgbClr val="0284C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cd</a:t>
              </a:r>
              <a:r>
                <a:rPr b="0" lang="en-GB" sz="85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 backend</a:t>
              </a:r>
              <a:endParaRPr b="0" sz="850">
                <a:solidFill>
                  <a:srgbClr val="E2E8F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python</a:t>
              </a:r>
              <a:r>
                <a:rPr b="0" lang="en-GB" sz="85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 -m pip install -r requirements.txt</a:t>
              </a:r>
              <a:endParaRPr b="0" sz="850">
                <a:solidFill>
                  <a:srgbClr val="E2E8F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python</a:t>
              </a:r>
              <a:r>
                <a:rPr b="0" lang="en-GB" sz="85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 main.py</a:t>
              </a:r>
              <a:endParaRPr b="0" sz="850">
                <a:solidFill>
                  <a:srgbClr val="E2E8F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API Server: </a:t>
              </a:r>
              <a:r>
                <a:rPr b="0" lang="en-GB" sz="8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http://localhost:8000</a:t>
              </a:r>
              <a:endParaRPr b="0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Swagger Docs: </a:t>
              </a:r>
              <a:r>
                <a:rPr b="0" lang="en-GB" sz="8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http://localhost:8000/api/docs</a:t>
              </a:r>
              <a:endParaRPr b="0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6" name="Google Shape;356;p25"/>
          <p:cNvGrpSpPr/>
          <p:nvPr/>
        </p:nvGrpSpPr>
        <p:grpSpPr>
          <a:xfrm>
            <a:off x="4714875" y="1143000"/>
            <a:ext cx="3667200" cy="2333700"/>
            <a:chOff x="0" y="0"/>
            <a:chExt cx="3667200" cy="2333700"/>
          </a:xfrm>
        </p:grpSpPr>
        <p:sp>
          <p:nvSpPr>
            <p:cNvPr id="357" name="Google Shape;357;p25"/>
            <p:cNvSpPr/>
            <p:nvPr/>
          </p:nvSpPr>
          <p:spPr>
            <a:xfrm>
              <a:off x="0" y="0"/>
              <a:ext cx="36672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5"/>
            <p:cNvSpPr txBox="1"/>
            <p:nvPr/>
          </p:nvSpPr>
          <p:spPr>
            <a:xfrm>
              <a:off x="152400" y="114300"/>
              <a:ext cx="3362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Frontend Setup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0284C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Node.js 18+ • npm • Vite</a:t>
              </a:r>
              <a:endParaRPr b="0" sz="850">
                <a:solidFill>
                  <a:srgbClr val="0284C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94A3B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// Run in a separate terminal zone</a:t>
              </a:r>
              <a:endParaRPr b="0" sz="800">
                <a:solidFill>
                  <a:srgbClr val="94A3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cd</a:t>
              </a:r>
              <a:r>
                <a:rPr b="0" lang="en-GB" sz="85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 frontend</a:t>
              </a:r>
              <a:endParaRPr b="0" sz="850">
                <a:solidFill>
                  <a:srgbClr val="E2E8F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npm</a:t>
              </a:r>
              <a:r>
                <a:rPr b="0" lang="en-GB" sz="85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 install</a:t>
              </a:r>
              <a:endParaRPr b="0" sz="850">
                <a:solidFill>
                  <a:srgbClr val="E2E8F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npm</a:t>
              </a:r>
              <a:r>
                <a:rPr b="0" lang="en-GB" sz="850">
                  <a:solidFill>
                    <a:srgbClr val="E2E8F0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 run dev</a:t>
              </a:r>
              <a:endParaRPr b="0" sz="850">
                <a:solidFill>
                  <a:srgbClr val="E2E8F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Web App Interface: </a:t>
              </a:r>
              <a:r>
                <a:rPr b="0" lang="en-GB" sz="8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http://localhost:5173</a:t>
              </a:r>
              <a:endParaRPr b="0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9" name="Google Shape;359;p25"/>
          <p:cNvGrpSpPr/>
          <p:nvPr/>
        </p:nvGrpSpPr>
        <p:grpSpPr>
          <a:xfrm>
            <a:off x="762000" y="3619500"/>
            <a:ext cx="7620000" cy="904800"/>
            <a:chOff x="0" y="0"/>
            <a:chExt cx="7620000" cy="904800"/>
          </a:xfrm>
        </p:grpSpPr>
        <p:sp>
          <p:nvSpPr>
            <p:cNvPr id="360" name="Google Shape;360;p25"/>
            <p:cNvSpPr/>
            <p:nvPr/>
          </p:nvSpPr>
          <p:spPr>
            <a:xfrm>
              <a:off x="0" y="0"/>
              <a:ext cx="7620000" cy="904800"/>
            </a:xfrm>
            <a:prstGeom prst="roundRect">
              <a:avLst>
                <a:gd fmla="val 10527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5"/>
            <p:cNvSpPr txBox="1"/>
            <p:nvPr/>
          </p:nvSpPr>
          <p:spPr>
            <a:xfrm>
              <a:off x="190500" y="133350"/>
              <a:ext cx="72390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PREREQUISITES &amp; ENVIRONMENT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978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Required Runtimes &amp; Package Managers</a:t>
              </a:r>
              <a:endParaRPr b="0" sz="978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Ensure </a:t>
              </a:r>
              <a:r>
                <a:rPr b="0" lang="en-GB" sz="808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Python 3.12+</a:t>
              </a:r>
              <a:r>
                <a:rPr b="0" lang="en-GB" sz="80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-GB" sz="808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Node.js 18+</a:t>
              </a:r>
              <a:r>
                <a:rPr b="0" lang="en-GB" sz="80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, and </a:t>
              </a:r>
              <a:r>
                <a:rPr b="0" lang="en-GB" sz="808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npm</a:t>
              </a:r>
              <a:r>
                <a:rPr b="0" lang="en-GB" sz="80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are globally installed prior to running setup scripts.</a:t>
              </a:r>
              <a:endParaRPr b="0" sz="80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6"/>
          <p:cNvGrpSpPr/>
          <p:nvPr/>
        </p:nvGrpSpPr>
        <p:grpSpPr>
          <a:xfrm>
            <a:off x="762000" y="285750"/>
            <a:ext cx="1524000" cy="247800"/>
            <a:chOff x="0" y="0"/>
            <a:chExt cx="1524000" cy="247800"/>
          </a:xfrm>
        </p:grpSpPr>
        <p:sp>
          <p:nvSpPr>
            <p:cNvPr id="367" name="Google Shape;367;p26"/>
            <p:cNvSpPr/>
            <p:nvPr/>
          </p:nvSpPr>
          <p:spPr>
            <a:xfrm>
              <a:off x="0" y="0"/>
              <a:ext cx="15240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133350" y="28575"/>
              <a:ext cx="1257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25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KEY ADVANTAGES</a:t>
              </a:r>
              <a:endParaRPr b="0" sz="925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369" name="Google Shape;369;p26"/>
          <p:cNvSpPr txBox="1"/>
          <p:nvPr/>
        </p:nvSpPr>
        <p:spPr>
          <a:xfrm>
            <a:off x="762000" y="59055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Makes DataPilot Different</a:t>
            </a:r>
            <a:endParaRPr b="0" sz="185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GB" sz="92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Next-generation autonomous data extraction compared to legacy web scrapers.</a:t>
            </a:r>
            <a:endParaRPr b="0" sz="925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0" name="Google Shape;370;p26"/>
          <p:cNvGrpSpPr/>
          <p:nvPr/>
        </p:nvGrpSpPr>
        <p:grpSpPr>
          <a:xfrm>
            <a:off x="762000" y="1143000"/>
            <a:ext cx="7620000" cy="2333700"/>
            <a:chOff x="0" y="0"/>
            <a:chExt cx="7620000" cy="2333700"/>
          </a:xfrm>
        </p:grpSpPr>
        <p:sp>
          <p:nvSpPr>
            <p:cNvPr id="371" name="Google Shape;371;p26"/>
            <p:cNvSpPr/>
            <p:nvPr/>
          </p:nvSpPr>
          <p:spPr>
            <a:xfrm>
              <a:off x="0" y="0"/>
              <a:ext cx="76200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2" name="Google Shape;372;p26"/>
            <p:cNvCxnSpPr/>
            <p:nvPr/>
          </p:nvCxnSpPr>
          <p:spPr>
            <a:xfrm>
              <a:off x="0" y="3333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73" name="Google Shape;373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614363"/>
              <a:ext cx="7601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00113"/>
              <a:ext cx="7601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85863"/>
              <a:ext cx="7601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471613"/>
              <a:ext cx="7601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757363"/>
              <a:ext cx="7601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043113"/>
              <a:ext cx="7601100" cy="9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79" name="Google Shape;379;p26"/>
            <p:cNvCxnSpPr/>
            <p:nvPr/>
          </p:nvCxnSpPr>
          <p:spPr>
            <a:xfrm>
              <a:off x="1714500" y="0"/>
              <a:ext cx="0" cy="23337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26"/>
            <p:cNvCxnSpPr/>
            <p:nvPr/>
          </p:nvCxnSpPr>
          <p:spPr>
            <a:xfrm>
              <a:off x="4857750" y="0"/>
              <a:ext cx="0" cy="23337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1" name="Google Shape;381;p26"/>
            <p:cNvSpPr txBox="1"/>
            <p:nvPr/>
          </p:nvSpPr>
          <p:spPr>
            <a:xfrm>
              <a:off x="190500" y="7620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Feature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2" name="Google Shape;382;p26"/>
            <p:cNvSpPr txBox="1"/>
            <p:nvPr/>
          </p:nvSpPr>
          <p:spPr>
            <a:xfrm>
              <a:off x="1905000" y="76200"/>
              <a:ext cx="27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DataPilot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3" name="Google Shape;383;p26"/>
            <p:cNvSpPr txBox="1"/>
            <p:nvPr/>
          </p:nvSpPr>
          <p:spPr>
            <a:xfrm>
              <a:off x="5048250" y="76200"/>
              <a:ext cx="23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Typical Scrapers</a:t>
              </a:r>
              <a:endParaRPr b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4" name="Google Shape;384;p26"/>
            <p:cNvSpPr txBox="1"/>
            <p:nvPr/>
          </p:nvSpPr>
          <p:spPr>
            <a:xfrm>
              <a:off x="190500" y="3905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Setup</a:t>
              </a:r>
              <a:endParaRPr b="0" sz="85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85" name="Google Shape;385;p26"/>
            <p:cNvSpPr txBox="1"/>
            <p:nvPr/>
          </p:nvSpPr>
          <p:spPr>
            <a:xfrm>
              <a:off x="1905000" y="390525"/>
              <a:ext cx="27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One natural-language prompt</a:t>
              </a:r>
              <a:endParaRPr b="0" sz="85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86" name="Google Shape;386;p26"/>
            <p:cNvSpPr txBox="1"/>
            <p:nvPr/>
          </p:nvSpPr>
          <p:spPr>
            <a:xfrm>
              <a:off x="5048250" y="390525"/>
              <a:ext cx="23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Write custom code per source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7" name="Google Shape;387;p26"/>
            <p:cNvSpPr txBox="1"/>
            <p:nvPr/>
          </p:nvSpPr>
          <p:spPr>
            <a:xfrm>
              <a:off x="190500" y="67627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Sources</a:t>
              </a:r>
              <a:endParaRPr b="0" sz="85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88" name="Google Shape;388;p26"/>
            <p:cNvSpPr txBox="1"/>
            <p:nvPr/>
          </p:nvSpPr>
          <p:spPr>
            <a:xfrm>
              <a:off x="1905000" y="676275"/>
              <a:ext cx="27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4 connectors + extensible</a:t>
              </a:r>
              <a:endParaRPr b="0" sz="85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89" name="Google Shape;389;p26"/>
            <p:cNvSpPr txBox="1"/>
            <p:nvPr/>
          </p:nvSpPr>
          <p:spPr>
            <a:xfrm>
              <a:off x="5048250" y="676275"/>
              <a:ext cx="23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One scraper per source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0" name="Google Shape;390;p26"/>
            <p:cNvSpPr txBox="1"/>
            <p:nvPr/>
          </p:nvSpPr>
          <p:spPr>
            <a:xfrm>
              <a:off x="190500" y="9620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Quality</a:t>
              </a:r>
              <a:endParaRPr b="0" sz="85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91" name="Google Shape;391;p26"/>
            <p:cNvSpPr txBox="1"/>
            <p:nvPr/>
          </p:nvSpPr>
          <p:spPr>
            <a:xfrm>
              <a:off x="1905000" y="962025"/>
              <a:ext cx="27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Automated clean + score + dedup</a:t>
              </a:r>
              <a:endParaRPr b="0" sz="85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92" name="Google Shape;392;p26"/>
            <p:cNvSpPr txBox="1"/>
            <p:nvPr/>
          </p:nvSpPr>
          <p:spPr>
            <a:xfrm>
              <a:off x="5048250" y="962025"/>
              <a:ext cx="23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Manual or none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3" name="Google Shape;393;p26"/>
            <p:cNvSpPr txBox="1"/>
            <p:nvPr/>
          </p:nvSpPr>
          <p:spPr>
            <a:xfrm>
              <a:off x="190500" y="124777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Traceability</a:t>
              </a:r>
              <a:endParaRPr b="0" sz="85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94" name="Google Shape;394;p26"/>
            <p:cNvSpPr txBox="1"/>
            <p:nvPr/>
          </p:nvSpPr>
          <p:spPr>
            <a:xfrm>
              <a:off x="1905000" y="1247775"/>
              <a:ext cx="27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Every row has source metadata</a:t>
              </a:r>
              <a:endParaRPr b="0" sz="85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95" name="Google Shape;395;p26"/>
            <p:cNvSpPr txBox="1"/>
            <p:nvPr/>
          </p:nvSpPr>
          <p:spPr>
            <a:xfrm>
              <a:off x="5048250" y="1247775"/>
              <a:ext cx="23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Usually none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6" name="Google Shape;396;p26"/>
            <p:cNvSpPr txBox="1"/>
            <p:nvPr/>
          </p:nvSpPr>
          <p:spPr>
            <a:xfrm>
              <a:off x="190500" y="15335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Dashboard</a:t>
              </a:r>
              <a:endParaRPr b="0" sz="85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97" name="Google Shape;397;p26"/>
            <p:cNvSpPr txBox="1"/>
            <p:nvPr/>
          </p:nvSpPr>
          <p:spPr>
            <a:xfrm>
              <a:off x="1905000" y="1533525"/>
              <a:ext cx="27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Built-in interactive explorer</a:t>
              </a:r>
              <a:endParaRPr b="0" sz="85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98" name="Google Shape;398;p26"/>
            <p:cNvSpPr txBox="1"/>
            <p:nvPr/>
          </p:nvSpPr>
          <p:spPr>
            <a:xfrm>
              <a:off x="5048250" y="1533525"/>
              <a:ext cx="23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Separate tool needed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9" name="Google Shape;399;p26"/>
            <p:cNvSpPr txBox="1"/>
            <p:nvPr/>
          </p:nvSpPr>
          <p:spPr>
            <a:xfrm>
              <a:off x="190500" y="181927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Export</a:t>
              </a:r>
              <a:endParaRPr b="0" sz="85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00" name="Google Shape;400;p26"/>
            <p:cNvSpPr txBox="1"/>
            <p:nvPr/>
          </p:nvSpPr>
          <p:spPr>
            <a:xfrm>
              <a:off x="1905000" y="1819275"/>
              <a:ext cx="27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CSV + JSON from UI</a:t>
              </a:r>
              <a:endParaRPr b="0" sz="85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1" name="Google Shape;401;p26"/>
            <p:cNvSpPr txBox="1"/>
            <p:nvPr/>
          </p:nvSpPr>
          <p:spPr>
            <a:xfrm>
              <a:off x="5048250" y="1819275"/>
              <a:ext cx="23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Manual extraction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2" name="Google Shape;402;p26"/>
            <p:cNvSpPr txBox="1"/>
            <p:nvPr/>
          </p:nvSpPr>
          <p:spPr>
            <a:xfrm>
              <a:off x="190500" y="21050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Monitoring</a:t>
              </a:r>
              <a:endParaRPr b="0" sz="85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03" name="Google Shape;403;p26"/>
            <p:cNvSpPr txBox="1"/>
            <p:nvPr/>
          </p:nvSpPr>
          <p:spPr>
            <a:xfrm>
              <a:off x="1905000" y="2105025"/>
              <a:ext cx="276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Real-time pipeline logs</a:t>
              </a:r>
              <a:endParaRPr b="0" sz="85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4" name="Google Shape;404;p26"/>
            <p:cNvSpPr txBox="1"/>
            <p:nvPr/>
          </p:nvSpPr>
          <p:spPr>
            <a:xfrm>
              <a:off x="5048250" y="2105025"/>
              <a:ext cx="238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No visibility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5" name="Google Shape;405;p26"/>
          <p:cNvGrpSpPr/>
          <p:nvPr/>
        </p:nvGrpSpPr>
        <p:grpSpPr>
          <a:xfrm>
            <a:off x="762000" y="3619500"/>
            <a:ext cx="7620000" cy="904800"/>
            <a:chOff x="0" y="0"/>
            <a:chExt cx="7620000" cy="904800"/>
          </a:xfrm>
        </p:grpSpPr>
        <p:sp>
          <p:nvSpPr>
            <p:cNvPr id="406" name="Google Shape;406;p26"/>
            <p:cNvSpPr/>
            <p:nvPr/>
          </p:nvSpPr>
          <p:spPr>
            <a:xfrm>
              <a:off x="0" y="0"/>
              <a:ext cx="7620000" cy="904800"/>
            </a:xfrm>
            <a:prstGeom prst="roundRect">
              <a:avLst>
                <a:gd fmla="val 10526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6"/>
            <p:cNvSpPr txBox="1"/>
            <p:nvPr/>
          </p:nvSpPr>
          <p:spPr>
            <a:xfrm>
              <a:off x="190500" y="133350"/>
              <a:ext cx="72390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AI-DRIVEN PARADIGM SHIFT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978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 Code Overhead &amp; Full Pipeline Transparency</a:t>
              </a:r>
              <a:endParaRPr b="0" sz="978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DataPilot replaces custom scraper maintenance with automated AI planning, continuous data quality scoring, and end-to-end lineage tracking out of the box.</a:t>
              </a:r>
              <a:endParaRPr b="0" sz="80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27"/>
          <p:cNvGrpSpPr/>
          <p:nvPr/>
        </p:nvGrpSpPr>
        <p:grpSpPr>
          <a:xfrm>
            <a:off x="762000" y="285750"/>
            <a:ext cx="1238400" cy="247800"/>
            <a:chOff x="0" y="0"/>
            <a:chExt cx="1238400" cy="247800"/>
          </a:xfrm>
        </p:grpSpPr>
        <p:sp>
          <p:nvSpPr>
            <p:cNvPr id="413" name="Google Shape;413;p27"/>
            <p:cNvSpPr/>
            <p:nvPr/>
          </p:nvSpPr>
          <p:spPr>
            <a:xfrm>
              <a:off x="0" y="0"/>
              <a:ext cx="1238400" cy="2478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7"/>
            <p:cNvSpPr txBox="1"/>
            <p:nvPr/>
          </p:nvSpPr>
          <p:spPr>
            <a:xfrm>
              <a:off x="0" y="28575"/>
              <a:ext cx="1238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25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THANK YOU</a:t>
              </a:r>
              <a:endParaRPr b="0" sz="925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415" name="Google Shape;415;p27"/>
          <p:cNvSpPr txBox="1"/>
          <p:nvPr/>
        </p:nvSpPr>
        <p:spPr>
          <a:xfrm>
            <a:off x="762000" y="590550"/>
            <a:ext cx="7620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35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DataPilot — From Prompt to Dataset in Seconds</a:t>
            </a:r>
            <a:endParaRPr b="0" sz="2035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GB"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"Stop building scrapers. Start asking questions."</a:t>
            </a:r>
            <a:endParaRPr b="0" i="1" sz="1018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16" name="Google Shape;416;p27"/>
          <p:cNvGrpSpPr/>
          <p:nvPr/>
        </p:nvGrpSpPr>
        <p:grpSpPr>
          <a:xfrm>
            <a:off x="762000" y="1190625"/>
            <a:ext cx="7620000" cy="2286000"/>
            <a:chOff x="0" y="0"/>
            <a:chExt cx="7620000" cy="2286000"/>
          </a:xfrm>
        </p:grpSpPr>
        <p:sp>
          <p:nvSpPr>
            <p:cNvPr id="417" name="Google Shape;417;p27"/>
            <p:cNvSpPr/>
            <p:nvPr/>
          </p:nvSpPr>
          <p:spPr>
            <a:xfrm>
              <a:off x="0" y="0"/>
              <a:ext cx="7620000" cy="2286000"/>
            </a:xfrm>
            <a:prstGeom prst="roundRect">
              <a:avLst>
                <a:gd fmla="val 3333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7"/>
            <p:cNvSpPr txBox="1"/>
            <p:nvPr/>
          </p:nvSpPr>
          <p:spPr>
            <a:xfrm>
              <a:off x="190500" y="152400"/>
              <a:ext cx="7239000" cy="19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18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WHAT WE BUILT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✅ AI that understands plain English data requests✅ Dynamic multi-stage pipeline execution✅ 4 live data connectors (jobs, market, leads, synthetic)✅ Automated cleaning, validation, deduplication✅ Full source traceability on every row✅ Interactive dashboard with search, sort, export✅ Complete workflow history and audit logs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9" name="Google Shape;419;p27"/>
          <p:cNvGrpSpPr/>
          <p:nvPr/>
        </p:nvGrpSpPr>
        <p:grpSpPr>
          <a:xfrm>
            <a:off x="762000" y="3619500"/>
            <a:ext cx="7620000" cy="904800"/>
            <a:chOff x="0" y="0"/>
            <a:chExt cx="7620000" cy="904800"/>
          </a:xfrm>
        </p:grpSpPr>
        <p:sp>
          <p:nvSpPr>
            <p:cNvPr id="420" name="Google Shape;420;p27"/>
            <p:cNvSpPr/>
            <p:nvPr/>
          </p:nvSpPr>
          <p:spPr>
            <a:xfrm>
              <a:off x="0" y="0"/>
              <a:ext cx="7620000" cy="904800"/>
            </a:xfrm>
            <a:prstGeom prst="roundRect">
              <a:avLst>
                <a:gd fmla="val 10526" name="adj"/>
              </a:avLst>
            </a:prstGeom>
            <a:solidFill>
              <a:srgbClr val="0F172A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7"/>
            <p:cNvSpPr txBox="1"/>
            <p:nvPr/>
          </p:nvSpPr>
          <p:spPr>
            <a:xfrm>
              <a:off x="190500" y="133350"/>
              <a:ext cx="72390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PROJECT REPOSITORY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Explore the Source Code &amp; Architecture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https://github.com/haziqueimamgit/CodeCubicle-DataPilot</a:t>
              </a:r>
              <a:endParaRPr b="1" sz="9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